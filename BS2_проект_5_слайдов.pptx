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27272A"/>
                </a:solidFill>
                <a:latin typeface="Arial"/>
              </a:rPr>
              <a:t>Насколько оценка совпадает с мнением людей (CCC, чем ближе к 1, тем лучше)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Согласованность</c:v>
                </c:pt>
              </c:strCache>
            </c:strRef>
          </c:tx>
          <c:dPt>
            <c:idx val="0"/>
            <c:spPr>
              <a:solidFill>
                <a:srgbClr val="71717A"/>
              </a:solidFill>
            </c:spPr>
          </c:dPt>
          <c:dPt>
            <c:idx val="1"/>
            <c:spPr>
              <a:solidFill>
                <a:srgbClr val="0F766E"/>
              </a:solidFill>
            </c:spPr>
          </c:dPt>
          <c:dPt>
            <c:idx val="2"/>
            <c:spPr>
              <a:solidFill>
                <a:srgbClr val="C2410C"/>
              </a:solidFill>
            </c:spPr>
          </c:dPt>
          <c:dPt>
            <c:idx val="3"/>
            <c:spPr>
              <a:solidFill>
                <a:srgbClr val="27272A"/>
              </a:solidFill>
            </c:spPr>
          </c:dPt>
          <c:cat>
            <c:strRef>
              <c:f>Sheet1!$A$2:$A$5</c:f>
              <c:strCache>
                <c:ptCount val="4"/>
                <c:pt idx="0">
                  <c:v>OCEAN-AI
(готовые веса)</c:v>
                </c:pt>
                <c:pt idx="1">
                  <c:v>Своя модель</c:v>
                </c:pt>
                <c:pt idx="2">
                  <c:v>Ансамбль двух
систем</c:v>
                </c:pt>
                <c:pt idx="3">
                  <c:v>Статья
MM-PSYCHE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0.703</c:v>
                </c:pt>
                <c:pt idx="1">
                  <c:v>0.715</c:v>
                </c:pt>
                <c:pt idx="2">
                  <c:v>0.733</c:v>
                </c:pt>
                <c:pt idx="3">
                  <c:v>0.74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2727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4D8"/>
            </a:solidFill>
          </a:ln>
        </c:spPr>
        <c:txPr>
          <a:bodyPr/>
          <a:lstStyle/>
          <a:p>
            <a:pPr>
              <a:defRPr sz="950">
                <a:solidFill>
                  <a:srgbClr val="27272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5"/>
        </c:scaling>
        <c:delete val="0"/>
        <c:axPos val="l"/>
        <c:majorGridlines>
          <c:spPr>
            <a:ln>
              <a:solidFill>
                <a:srgbClr val="D4D4D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525B"/>
                </a:solidFill>
                <a:latin typeface="Arial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С чего начали и что нашли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Задача: локальная программа «видео на входе → оценка Big Five и поведения на выходе», всё считается на одном компьютере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4114800" cy="4160520"/>
          </a:xfrm>
          <a:prstGeom prst="roundRect">
            <a:avLst>
              <a:gd name="adj" fmla="val 177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Отправная точка — научная статья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65760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MM-PSYCHE</a:t>
            </a:r>
            <a:r>
              <a:rPr sz="1250" b="0" i="0">
                <a:solidFill>
                  <a:srgbClr val="27272A"/>
                </a:solidFill>
                <a:latin typeface="Arial"/>
              </a:rPr>
              <a:t> (LEYA-HSE, IEEE Access, 2026): личность оценивают по четырём модальностям — лицо, голос, смысл речи и текстовое описание поведения — и сводят их графовой сетью в пять черт.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Что было открыто: </a:t>
            </a:r>
            <a:r>
              <a:rPr sz="1250" b="0" i="0">
                <a:solidFill>
                  <a:srgbClr val="27272A"/>
                </a:solidFill>
                <a:latin typeface="Arial"/>
              </a:rPr>
              <a:t>код обучения, рецепт признаков, разметка 10 000 роликов.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Чего не было: </a:t>
            </a:r>
            <a:r>
              <a:rPr sz="1250" b="0" i="0">
                <a:solidFill>
                  <a:srgbClr val="27272A"/>
                </a:solidFill>
                <a:latin typeface="Arial"/>
              </a:rPr>
              <a:t>обученных весов, готовой программы «одно видео → результат», интерфейса.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1" i="0">
                <a:solidFill>
                  <a:srgbClr val="C2410C"/>
                </a:solidFill>
                <a:latin typeface="Arial"/>
              </a:rPr>
              <a:t>Решение: </a:t>
            </a:r>
            <a:r>
              <a:rPr sz="1250" b="0" i="0">
                <a:solidFill>
                  <a:srgbClr val="27272A"/>
                </a:solidFill>
                <a:latin typeface="Arial"/>
              </a:rPr>
              <a:t>сначала запустить готовые системы тех же авторов, затем обучить свою модель по рецепту статьи и объединить их в ансамбль.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002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Что нашли и проверили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7451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166360" y="2029967"/>
            <a:ext cx="292608" cy="29260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20025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Данные: First Impressions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4048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10 000 роликов по 15 с из англоязычных видеоблогов с разметкой пяти черт и метки «пригласить на собеседование». Открытое зеркало, 29 ГБ, скачано и проверено полностью.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7451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49640" y="2029967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20025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Готовая система: OCEAN-AI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4048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Система тех же авторов с открытыми весами: аудио + видео + текст. Два набора весов — для английской речи (First Impressions V2) и для русской (корпус MuPTA).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74903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166360" y="3904487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387705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Кодировщики признаков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27939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Готовые модели, которые мы не дообучали: CLIP — лицо, CLAP — голос, EmoRoBERTa — текст, Whisper — речь в текст, Qwen-VL — описание поведения по кадрам.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74903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49640" y="3904487"/>
            <a:ext cx="292608" cy="292608"/>
          </a:xfrm>
          <a:prstGeom prst="ellipse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387705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Предшественник: SSL-MEPR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27939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Пять модальностей, но веса лица и тела авторы не опубликовали. Использован как ориентир по точности, не как основа.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897880"/>
            <a:ext cx="10789920" cy="0"/>
          </a:xfrm>
          <a:prstGeom prst="line">
            <a:avLst/>
          </a:prstGeom>
          <a:ln w="25400">
            <a:solidFill>
              <a:srgbClr val="D4D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05839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035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14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статья, техническое задание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6035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14–15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готовые веса, первый конвейер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6035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своя модель и ансамбль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6035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15–16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русские ролики, страница, PDF</a:t>
            </a:r>
          </a:p>
        </p:txBody>
      </p:sp>
      <p:sp>
        <p:nvSpPr>
          <p:cNvPr id="33" name="Oval 32"/>
          <p:cNvSpPr/>
          <p:nvPr/>
        </p:nvSpPr>
        <p:spPr>
          <a:xfrm>
            <a:off x="1088136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6035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16–20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эмоции, голос, мимика, речь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© 2026 AMLAI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Своя модель: что взяли готовым и что обучили 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Четыре независимых взгляда на человека сводятся в одну оценку: рецепт — из статьи, обучение — на нашем компьютере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34440" cy="3712464"/>
          </a:xfrm>
          <a:prstGeom prst="roundRect">
            <a:avLst>
              <a:gd name="adj" fmla="val 5925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234440" cy="3712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Видео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4D4D8"/>
                </a:solidFill>
                <a:latin typeface="Arial"/>
              </a:rPr>
              <a:t>или отрезок 20 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1956816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03120" y="1554480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76272" y="1554480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Лицо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1956816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554480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76472" y="1554480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7272A"/>
                </a:solidFill>
                <a:latin typeface="Arial"/>
              </a:rPr>
              <a:t>30 кадров → поиск лица (MediaPipe)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1956816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554480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91072" y="1554480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CLIP ViT-B/32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1956816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1554480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65592" y="1554480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вектор 1024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1956816"/>
            <a:ext cx="320040" cy="81381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83080" y="2926079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03120" y="2523744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176272" y="2523744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Голос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2926079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03320" y="2523744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76472" y="2523744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7272A"/>
                </a:solidFill>
                <a:latin typeface="Arial"/>
              </a:rPr>
              <a:t>звуковая дорожка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2926079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523744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91072" y="2523744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CLAP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18120" y="2926079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92440" y="2523744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65592" y="2523744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вектор 1536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2926079"/>
            <a:ext cx="320040" cy="301753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83080" y="3895344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103120" y="3493008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176272" y="3493008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Смысл речи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29000" y="3895344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03320" y="3493008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776472" y="3493008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7272A"/>
                </a:solidFill>
                <a:latin typeface="Arial"/>
              </a:rPr>
              <a:t>Whisper → транскрипт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0" y="3895344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17920" y="3493008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91072" y="3493008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EmoRoBERTa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18120" y="3895344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92440" y="3493008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65592" y="3493008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вектор 1536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44000" y="3685032"/>
            <a:ext cx="320040" cy="210312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83080" y="4864608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103120" y="4462272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176272" y="4462272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Поведение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29000" y="4864608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703320" y="4462272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776472" y="4462272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7272A"/>
                </a:solidFill>
                <a:latin typeface="Arial"/>
              </a:rPr>
              <a:t>16 кадров → Qwen-VL пишет описание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43600" y="4864608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217920" y="4462272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91072" y="4462272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EmoRoBERTa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818120" y="4864608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092440" y="4462272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165592" y="4462272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вектор 1536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144000" y="4142232"/>
            <a:ext cx="320040" cy="72237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464040" y="2240280"/>
            <a:ext cx="2148840" cy="2514600"/>
          </a:xfrm>
          <a:prstGeom prst="roundRect">
            <a:avLst>
              <a:gd name="adj" fmla="val 340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464040" y="2240280"/>
            <a:ext cx="2148840" cy="2514600"/>
          </a:xfrm>
          <a:prstGeom prst="rect">
            <a:avLst/>
          </a:prstGeom>
          <a:noFill/>
        </p:spPr>
        <p:txBody>
          <a:bodyPr wrap="square" anchor="ctr" tIns="91440" bIns="9144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Графовое слияние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обучили мы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7272A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четыре набора признаков сводятся вместе с учётом связей между ними (графовое и перекрёстное внимание)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533888" y="4754880"/>
            <a:ext cx="0" cy="22860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464040" y="4983480"/>
            <a:ext cx="2148840" cy="685800"/>
          </a:xfrm>
          <a:prstGeom prst="roundRect">
            <a:avLst>
              <a:gd name="adj" fmla="val 10666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537192" y="4983480"/>
            <a:ext cx="20025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Big Five + «собеседование»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4D4D8"/>
                </a:solidFill>
                <a:latin typeface="Arial"/>
              </a:rPr>
              <a:t>шесть чисел от 0 до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5440680"/>
            <a:ext cx="274320" cy="201168"/>
          </a:xfrm>
          <a:prstGeom prst="roundRect">
            <a:avLst>
              <a:gd name="adj" fmla="val 36363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96112" y="5394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серый — готовые веса, не дообучались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40480" y="5440680"/>
            <a:ext cx="274320" cy="201168"/>
          </a:xfrm>
          <a:prstGeom prst="roundRect">
            <a:avLst>
              <a:gd name="adj" fmla="val 36363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187952" y="5394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светло-серый — подготовка данных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9440" y="5440680"/>
            <a:ext cx="274320" cy="201168"/>
          </a:xfrm>
          <a:prstGeom prst="roundRect">
            <a:avLst>
              <a:gd name="adj" fmla="val 3636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296912" y="5394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оранжевый — обучено нами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Обучение: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6000 роликов First Impressions V2, пять запусков и усреднение; </a:t>
            </a:r>
            <a:r>
              <a:rPr sz="1050" b="1" i="0">
                <a:solidFill>
                  <a:srgbClr val="27272A"/>
                </a:solidFill>
                <a:latin typeface="Arial"/>
              </a:rPr>
              <a:t>ансамбль с OCEAN-AI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точнее любой из двух систем по отдельности.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C2410C"/>
                </a:solidFill>
                <a:latin typeface="Arial"/>
              </a:rPr>
              <a:t>Почему не всё с нуля: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обучить собственные кодировщики лица, голоса и текста можно, но для этого нужны десятки тысяч размеченных роликов. Открытых размеченных данных хватает только на слияние — его мы и обучили.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© 2026 AMLAI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Конвейер сегодня: от ролика до отчёта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Один проход по ролику даёт оценку личности, эмоции, голос, мимику и манеру речи на общей оси времени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1463040" cy="1188720"/>
          </a:xfrm>
          <a:prstGeom prst="roundRect">
            <a:avLst>
              <a:gd name="adj" fmla="val 6153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2651760"/>
            <a:ext cx="1316736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Ролик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4D4D8"/>
                </a:solidFill>
                <a:latin typeface="Arial"/>
              </a:rPr>
              <a:t>любой длины, речь русская или английская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3246120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2651760"/>
            <a:ext cx="1737360" cy="1188720"/>
          </a:xfrm>
          <a:prstGeom prst="roundRect">
            <a:avLst>
              <a:gd name="adj" fmla="val 6153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59152" y="2651760"/>
            <a:ext cx="1591056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Отрезки по 20 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Whisper распознаёт речь с метками времени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81144" y="1673352"/>
            <a:ext cx="146304" cy="14630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18888" y="160020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Big Five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1883664"/>
            <a:ext cx="3291840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OCEAN-AI (веса для русской или английской речи) + своя модель: основная оценка и второе мнение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023360" y="1929384"/>
            <a:ext cx="411480" cy="131673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42316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81144" y="2542032"/>
            <a:ext cx="146304" cy="146304"/>
          </a:xfrm>
          <a:prstGeom prst="ellipse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18888" y="2468879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Эмоции по смыслу речи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752344"/>
            <a:ext cx="3291840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EmoRoBERTa — семь эмоций по транскрипту каждого отрезка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023360" y="2798064"/>
            <a:ext cx="411480" cy="44805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34840" y="3291839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81144" y="3410711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18888" y="3337559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Голос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621023"/>
            <a:ext cx="3291840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wav2vec2 (audeering) — возбуждение, уверенность, позитивность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3246120"/>
            <a:ext cx="411480" cy="420624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34840" y="416052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581144" y="4279392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18888" y="420624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Мимика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489704"/>
            <a:ext cx="3291840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выражения лица (7 классов) по кадрам + движение головы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3246120"/>
            <a:ext cx="411480" cy="1289304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34840" y="502920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581144" y="5148072"/>
            <a:ext cx="146304" cy="146304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18888" y="507492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Манера речи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5358384"/>
            <a:ext cx="3291840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темп, паузы, слова-заполнители, длина фразы, словарь — по транскрипту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23360" y="3246120"/>
            <a:ext cx="411480" cy="2157984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15544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85632" y="1554480"/>
            <a:ext cx="305409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Объяснения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ключевые кадры, вклад каждой модальности, слова, повлиявшие на оценку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288036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85632" y="2880360"/>
            <a:ext cx="305409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Понятный русский текст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краткие выводы из чисел; описания и транскрипт переводит локальная языковая модель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206240"/>
            <a:ext cx="3200400" cy="1554480"/>
          </a:xfrm>
          <a:prstGeom prst="roundRect">
            <a:avLst>
              <a:gd name="adj" fmla="val 4705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85632" y="4206240"/>
            <a:ext cx="3054096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Страница и печатный отчёт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4D4D8"/>
                </a:solidFill>
                <a:latin typeface="Arial"/>
              </a:rPr>
              <a:t>графики по ходу ролика, тепловая карта эмоций, профиль Big Five, второе мнение, PDF на 7 страниц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01000" y="1929384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01000" y="2798064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01000" y="3666744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01000" y="4535424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01000" y="5404104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75320" y="1929384"/>
            <a:ext cx="0" cy="347472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75320" y="2121408"/>
            <a:ext cx="13716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75320" y="3447288"/>
            <a:ext cx="13716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75320" y="4983480"/>
            <a:ext cx="13716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12680" y="2697480"/>
            <a:ext cx="0" cy="18288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12680" y="4023360"/>
            <a:ext cx="0" cy="18288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Всё локально: </a:t>
            </a:r>
            <a:r>
              <a:rPr sz="1150" b="0" i="0">
                <a:solidFill>
                  <a:srgbClr val="27272A"/>
                </a:solidFill>
                <a:latin typeface="Arial"/>
              </a:rPr>
              <a:t>одна видеокарта, никакие данные не покидают компьютер. Обработка занимает примерно столько же, сколько длится ролик.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© 2026 AMLAI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Что получилось к сегодняшнему дню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Рабочая система с проверенной точностью и понятным отчётом на русском языке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1848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Arial"/>
              </a:rPr>
              <a:t>0.927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точность ансамбля (1 − ошибка) на тестовой части
First Impressions V2; в статье — 0.918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087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9000" y="161848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31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русских роликов обработано целиком,
создана опорная группа для сравнения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Arial"/>
              </a:rPr>
              <a:t>5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черт Big Five и дополнительных
измерений: эмоции, голос, мимика, речь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2004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9000" y="331012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Arial"/>
              </a:rPr>
              <a:t>≈ 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0233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время обработки к длине ролика:
шестиминутный ролик — около 7 минут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0" y="1417320"/>
          <a:ext cx="56692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035040" y="445312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Ось начинается с 0.5, чтобы различия были видны: все четыре системы близки между собой.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7272A"/>
                </a:solidFill>
                <a:latin typeface="Arial"/>
              </a:rPr>
              <a:t>Что человек получает по каждому ролику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8368" y="5321808"/>
            <a:ext cx="109728" cy="1097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7" y="5266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Профиль Big Five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9612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оценка и второе мнение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4016" y="521208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2523744" y="5321808"/>
            <a:ext cx="109728" cy="109728"/>
          </a:xfrm>
          <a:prstGeom prst="ellipse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06624" y="5266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Эмоции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559612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по речи и по лицу, по ходу ролика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521208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389120" y="532180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0" y="5266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Голос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59612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возбуждение, уверенность, позитивность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521208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254496" y="532180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7376" y="5266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Мимика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559612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выражения лица, движение головы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521208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119871" y="5321808"/>
            <a:ext cx="109728" cy="109728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266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Манера речи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1" y="559612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темп, паузы, частые слова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19" y="521208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985247" y="5321808"/>
            <a:ext cx="109728" cy="109728"/>
          </a:xfrm>
          <a:prstGeom prst="ellipse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168128" y="5266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Объяснения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7" y="559612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кадры, вклад модальностей, слова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© 2026 AMLAI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Что нужно от заказчика и коллег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D4D4D8"/>
                </a:solidFill>
                <a:latin typeface="Arial"/>
              </a:rPr>
              <a:t>Девяти роликов от коллег хватило, чтобы запустить систему, но не чтобы сверить её с мнением людей и настроить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20440" cy="3657600"/>
          </a:xfrm>
          <a:prstGeom prst="roundRect">
            <a:avLst>
              <a:gd name="adj" fmla="val 2077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75564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73736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Ролики и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11810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Коллеги записывают ещё: человек говорит в камеру, лицо крупно, русская речь, 3–10 минут, разные люди и условия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30 роликов — сравнение систем; 100 — калибровка шкалы; от 300 — дообучение на русском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Согласие участников на обработку и хранение видео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Письмо авторам: корпус MuPTA (русская речь, выдаётся по запросу) и веса SSL-MEPR для лица и тела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54480"/>
            <a:ext cx="3520440" cy="3657600"/>
          </a:xfrm>
          <a:prstGeom prst="roundRect">
            <a:avLst>
              <a:gd name="adj" fmla="val 2077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498848" y="175564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4336" y="173736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Оценки живых людей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331720"/>
            <a:ext cx="311810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Каждый ролик смотрят не меньше трёх коллег, не знакомых с человеком в кадре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Пять черт по шкале 1–7: «каким этот человек кажется», плюс «пригласил бы на собеседование»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Одна короткая инструкция для всех, оценки не обсуждаются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Мы делаем таблицу разметки и считаем согласие оценщиков между собой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554480"/>
            <a:ext cx="3520440" cy="3657600"/>
          </a:xfrm>
          <a:prstGeom prst="roundRect">
            <a:avLst>
              <a:gd name="adj" fmla="val 2077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66175" y="175564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173736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Разметка профайлера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311810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Время начала и конца каждого эпизода (не скриншоты) — в программе разметки или в таблице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Размечен весь ролик или заданные отрезки, включая отметки «ничего заметного»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Определения паттернов («влево» — с точки зрения говорящего или зрителя), сила эпизода 1–3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E4E4E7"/>
                </a:solidFill>
                <a:latin typeface="Arial"/>
              </a:rPr>
              <a:t>Второй разметчик на 20–30 % материала; ориентир — 30 эпизодов на паттерн у 10 человек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EA580C"/>
                </a:solidFill>
                <a:latin typeface="Arial"/>
              </a:rPr>
              <a:t>Что это даст: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измерить точность на русскоязычных роликах и выбрать шкалу, откалибровать оценки под мнение людей, проверить эмоции, голос и мимику, настроить поиск поведенческих паттернов.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EA580C"/>
                </a:solidFill>
                <a:latin typeface="Arial"/>
              </a:rPr>
              <a:t>Своя модель для русской речи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возможна, но только на большом числе размеченных роликов: от 300 — дообучение, тысячи — обучение с нуля. Поэтому данные и разметка сейчас важнее любого нового кода.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© 2026 AMLAI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