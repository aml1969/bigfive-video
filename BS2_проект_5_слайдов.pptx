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27272A"/>
                </a:solidFill>
                <a:latin typeface="Arial"/>
              </a:rPr>
              <a:t>Насколько оценка совпадает с мнением людей* (CCC, чем ближе к 1, тем лучше)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Согласованность</c:v>
                </c:pt>
              </c:strCache>
            </c:strRef>
          </c:tx>
          <c:dPt>
            <c:idx val="0"/>
            <c:spPr>
              <a:solidFill>
                <a:srgbClr val="71717A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C2410C"/>
              </a:solidFill>
            </c:spPr>
          </c:dPt>
          <c:dPt>
            <c:idx val="3"/>
            <c:spPr>
              <a:solidFill>
                <a:srgbClr val="27272A"/>
              </a:solidFill>
            </c:spPr>
          </c:dPt>
          <c:cat>
            <c:strRef>
              <c:f>Sheet1!$A$2:$A$5</c:f>
              <c:strCache>
                <c:ptCount val="4"/>
                <c:pt idx="0">
                  <c:v>OCEAN-AI
(готовые веса)</c:v>
                </c:pt>
                <c:pt idx="1">
                  <c:v>Моя модель</c:v>
                </c:pt>
                <c:pt idx="2">
                  <c:v>Ансамбль двух
систем</c:v>
                </c:pt>
                <c:pt idx="3">
                  <c:v>Статья
MM-PSYCHE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0.703</c:v>
                </c:pt>
                <c:pt idx="1">
                  <c:v>0.715</c:v>
                </c:pt>
                <c:pt idx="2">
                  <c:v>0.733</c:v>
                </c:pt>
                <c:pt idx="3">
                  <c:v>0.74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 b="1">
                  <a:solidFill>
                    <a:srgbClr val="2727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4D4D8"/>
            </a:solidFill>
          </a:ln>
        </c:spPr>
        <c:txPr>
          <a:bodyPr/>
          <a:lstStyle/>
          <a:p>
            <a:pPr>
              <a:defRPr sz="950">
                <a:solidFill>
                  <a:srgbClr val="27272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5"/>
        </c:scaling>
        <c:delete val="0"/>
        <c:axPos val="l"/>
        <c:majorGridlines>
          <c:spPr>
            <a:ln>
              <a:solidFill>
                <a:srgbClr val="D4D4D8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2525B"/>
                </a:solidFill>
                <a:latin typeface="Arial"/>
              </a:defRPr>
            </a:pPr>
          </a:p>
        </c:txPr>
        <c:crossAx val="-2068027336"/>
        <c:crosses val="autoZero"/>
        <c:majorUnit val="0.1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109/ACCESS.2026.3723020" TargetMode="External"/><Relationship Id="rId3" Type="http://schemas.openxmlformats.org/officeDocument/2006/relationships/hyperlink" Target="https://github.com/LEYA-HSE/MM-PSYCH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27272A"/>
                </a:solidFill>
                <a:latin typeface="Arial"/>
              </a:rPr>
              <a:t>С чего я начал и что нашёл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2525B"/>
                </a:solidFill>
                <a:latin typeface="Arial"/>
              </a:rPr>
              <a:t>Моя задача: локальная программа «видео на входе → оценка Big Five и поведения на выходе». Разработка — в Claude Code (модель Fable 5.1, режим Ultracode)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4114800" cy="4160520"/>
          </a:xfrm>
          <a:prstGeom prst="roundRect">
            <a:avLst>
              <a:gd name="adj" fmla="val 1777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7272A"/>
                </a:solidFill>
                <a:latin typeface="Arial"/>
              </a:rPr>
              <a:t>Отправная точка — научная статья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3657600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 i="0">
                <a:solidFill>
                  <a:srgbClr val="27272A"/>
                </a:solidFill>
                <a:latin typeface="Arial"/>
              </a:rPr>
              <a:t>MM-PSYCHE</a:t>
            </a:r>
            <a:r>
              <a:rPr sz="1200" b="0" i="0">
                <a:solidFill>
                  <a:srgbClr val="27272A"/>
                </a:solidFill>
                <a:latin typeface="Arial"/>
              </a:rPr>
              <a:t> (LEYA-HSE, IEEE Access, 2026): личность оценивают по четырём модальностям — лицо, голос, смысл речи и текстовое описание поведения — и сводят их графовой сетью в пять черт.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 i="0">
                <a:solidFill>
                  <a:srgbClr val="27272A"/>
                </a:solidFill>
                <a:latin typeface="Arial"/>
              </a:rPr>
              <a:t>Что было открыто: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код обучения, рецепт признаков, разметка 10 000 роликов.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 i="0">
                <a:solidFill>
                  <a:srgbClr val="27272A"/>
                </a:solidFill>
                <a:latin typeface="Arial"/>
              </a:rPr>
              <a:t>Чего не было: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обученных весов, готовой программы «одно видео → результат», интерфейса.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Моё решение: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сначала запустить готовые системы тех же авторов, затем обучить свою модель по рецепту статьи и объединить их в ансамбль.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3035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52525B"/>
                </a:solidFill>
                <a:latin typeface="Arial"/>
              </a:rPr>
              <a:t>Статья: </a:t>
            </a:r>
            <a:r>
              <a:rPr sz="950" u="sng">
                <a:solidFill>
                  <a:srgbClr val="C2410C"/>
                </a:solidFill>
                <a:latin typeface="Arial"/>
                <a:hlinkClick r:id="rId2"/>
              </a:rPr>
              <a:t>doi.org/10.1109/ACCESS.2026.3723020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 i="0">
                <a:solidFill>
                  <a:srgbClr val="52525B"/>
                </a:solidFill>
                <a:latin typeface="Arial"/>
              </a:rPr>
              <a:t>Код: </a:t>
            </a:r>
            <a:r>
              <a:rPr sz="950" u="sng">
                <a:solidFill>
                  <a:srgbClr val="C2410C"/>
                </a:solidFill>
                <a:latin typeface="Arial"/>
                <a:hlinkClick r:id="rId3"/>
              </a:rPr>
              <a:t>github.com/LEYA-HSE/MM-PSYCHE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60020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7272A"/>
                </a:solidFill>
                <a:latin typeface="Arial"/>
              </a:rPr>
              <a:t>Что я нашёл и проверил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874519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5166360" y="2029967"/>
            <a:ext cx="292608" cy="29260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9552" y="200253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Данные: First Impressions 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240487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52525B"/>
                </a:solidFill>
                <a:latin typeface="Arial"/>
              </a:rPr>
              <a:t>10 000 роликов по 15 с из англоязычных видеоблогов с разметкой пяти черт и метки «пригласить на собеседование». Открытое зеркало, 29 ГБ — скачал и проверил полностью.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1874519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8549640" y="2029967"/>
            <a:ext cx="292608" cy="292608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2832" y="200253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Готовая система: OCEAN-AI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40487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52525B"/>
                </a:solidFill>
                <a:latin typeface="Arial"/>
              </a:rPr>
              <a:t>Система тех же авторов с открытыми весами: аудио + видео + текст. Два набора весов — для английской речи (First Impressions V2) и для русской (корпус MuPTA).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3749039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5166360" y="3904487"/>
            <a:ext cx="292608" cy="29260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9552" y="3877055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Кодировщики признаков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427939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52525B"/>
                </a:solidFill>
                <a:latin typeface="Arial"/>
              </a:rPr>
              <a:t>Готовые модели, которые я не дообучал: CLIP — лицо, CLAP — голос, EmoRoBERTa — текст, Whisper — речь в текст, Qwen-VL — описание поведения по кадрам.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3749039"/>
            <a:ext cx="3200400" cy="1691640"/>
          </a:xfrm>
          <a:prstGeom prst="roundRect">
            <a:avLst>
              <a:gd name="adj" fmla="val 4324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549640" y="3904487"/>
            <a:ext cx="292608" cy="292608"/>
          </a:xfrm>
          <a:prstGeom prst="ellipse">
            <a:avLst/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2832" y="3877055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27272A"/>
                </a:solidFill>
                <a:latin typeface="Arial"/>
              </a:rPr>
              <a:t>Предшественник: SSL-MEPR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4279392"/>
            <a:ext cx="29260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52525B"/>
                </a:solidFill>
                <a:latin typeface="Arial"/>
              </a:rPr>
              <a:t>Пять модальностей, но веса лица и тела авторы не опубликовали. Взял как ориентир по точности, не как основу.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5897880"/>
            <a:ext cx="10789920" cy="0"/>
          </a:xfrm>
          <a:prstGeom prst="line">
            <a:avLst/>
          </a:prstGeom>
          <a:ln w="25400">
            <a:solidFill>
              <a:srgbClr val="D4D4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960120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" y="6035040"/>
            <a:ext cx="2011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11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нашёл статью, изучил её и код</a:t>
            </a:r>
          </a:p>
        </p:txBody>
      </p:sp>
      <p:sp>
        <p:nvSpPr>
          <p:cNvPr id="28" name="Oval 27"/>
          <p:cNvSpPr/>
          <p:nvPr/>
        </p:nvSpPr>
        <p:spPr>
          <a:xfrm>
            <a:off x="2971800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57400" y="6035040"/>
            <a:ext cx="2011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14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техническое задание</a:t>
            </a:r>
          </a:p>
        </p:txBody>
      </p:sp>
      <p:sp>
        <p:nvSpPr>
          <p:cNvPr id="30" name="Oval 29"/>
          <p:cNvSpPr/>
          <p:nvPr/>
        </p:nvSpPr>
        <p:spPr>
          <a:xfrm>
            <a:off x="4983480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69080" y="6035040"/>
            <a:ext cx="2011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14–15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готовые веса, первый конвейер</a:t>
            </a:r>
          </a:p>
        </p:txBody>
      </p:sp>
      <p:sp>
        <p:nvSpPr>
          <p:cNvPr id="32" name="Oval 31"/>
          <p:cNvSpPr/>
          <p:nvPr/>
        </p:nvSpPr>
        <p:spPr>
          <a:xfrm>
            <a:off x="6995160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6035040"/>
            <a:ext cx="2011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15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моя модель и ансамбль</a:t>
            </a:r>
          </a:p>
        </p:txBody>
      </p:sp>
      <p:sp>
        <p:nvSpPr>
          <p:cNvPr id="34" name="Oval 33"/>
          <p:cNvSpPr/>
          <p:nvPr/>
        </p:nvSpPr>
        <p:spPr>
          <a:xfrm>
            <a:off x="9006840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92440" y="6035040"/>
            <a:ext cx="2011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15–16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русские ролики, страница, PDF</a:t>
            </a:r>
          </a:p>
        </p:txBody>
      </p:sp>
      <p:sp>
        <p:nvSpPr>
          <p:cNvPr id="36" name="Oval 35"/>
          <p:cNvSpPr/>
          <p:nvPr/>
        </p:nvSpPr>
        <p:spPr>
          <a:xfrm>
            <a:off x="11018519" y="5815584"/>
            <a:ext cx="164592" cy="164592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04119" y="6035040"/>
            <a:ext cx="2011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27272A"/>
                </a:solidFill>
                <a:latin typeface="Arial"/>
              </a:rPr>
              <a:t>16–20 сентября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эмоции, голос, мимика, речь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сделано в Claude Code, модель Fable 5.1, режим Ultracode · © 2026 AMLAI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27272A"/>
                </a:solidFill>
                <a:latin typeface="Arial"/>
              </a:rPr>
              <a:t>Моя модель: что взял готовым и что обучил сам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2525B"/>
                </a:solidFill>
                <a:latin typeface="Arial"/>
              </a:rPr>
              <a:t>Ролик делится на отрезки по 20 с, каждый проходит весь конвейер; четыре взгляда на человека сводятся в одну оценку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234440" cy="3712464"/>
          </a:xfrm>
          <a:prstGeom prst="roundRect">
            <a:avLst>
              <a:gd name="adj" fmla="val 5925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234440" cy="37124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Видео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D4D4D8"/>
                </a:solidFill>
                <a:latin typeface="Arial"/>
              </a:rPr>
              <a:t>весь ролик, отрезками по 20 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83080" y="1956816"/>
            <a:ext cx="32004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103120" y="1554480"/>
            <a:ext cx="1325880" cy="804672"/>
          </a:xfrm>
          <a:prstGeom prst="roundRect">
            <a:avLst>
              <a:gd name="adj" fmla="val 909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176272" y="1554480"/>
            <a:ext cx="11795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Лицо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29000" y="1956816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703320" y="1554480"/>
            <a:ext cx="224028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776472" y="1554480"/>
            <a:ext cx="20939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7272A"/>
                </a:solidFill>
                <a:latin typeface="Arial"/>
              </a:rPr>
              <a:t>30 кадров каждого отрезка → поиск лица (MediaPipe)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0" y="1956816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217920" y="1554480"/>
            <a:ext cx="1600200" cy="804672"/>
          </a:xfrm>
          <a:prstGeom prst="roundRect">
            <a:avLst>
              <a:gd name="adj" fmla="val 909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91072" y="1554480"/>
            <a:ext cx="145389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CLIP ViT-B/32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готовые веса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8120" y="1956816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092440" y="1554480"/>
            <a:ext cx="105156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165592" y="1554480"/>
            <a:ext cx="90525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27272A"/>
                </a:solidFill>
                <a:latin typeface="Arial"/>
              </a:rPr>
              <a:t>вектор 1024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144000" y="1956816"/>
            <a:ext cx="320040" cy="813816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783080" y="2926079"/>
            <a:ext cx="32004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03120" y="2523744"/>
            <a:ext cx="1325880" cy="804672"/>
          </a:xfrm>
          <a:prstGeom prst="roundRect">
            <a:avLst>
              <a:gd name="adj" fmla="val 909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176272" y="2523744"/>
            <a:ext cx="11795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Голос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429000" y="2926079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703320" y="2523744"/>
            <a:ext cx="224028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776472" y="2523744"/>
            <a:ext cx="20939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7272A"/>
                </a:solidFill>
                <a:latin typeface="Arial"/>
              </a:rPr>
              <a:t>звуковая дорожка отрезка целиком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943600" y="2926079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217920" y="2523744"/>
            <a:ext cx="1600200" cy="804672"/>
          </a:xfrm>
          <a:prstGeom prst="roundRect">
            <a:avLst>
              <a:gd name="adj" fmla="val 909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91072" y="2523744"/>
            <a:ext cx="145389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CLAP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готовые веса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18120" y="2926079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092440" y="2523744"/>
            <a:ext cx="105156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165592" y="2523744"/>
            <a:ext cx="90525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27272A"/>
                </a:solidFill>
                <a:latin typeface="Arial"/>
              </a:rPr>
              <a:t>вектор 1536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144000" y="2926079"/>
            <a:ext cx="320040" cy="301753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783080" y="3895344"/>
            <a:ext cx="32004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103120" y="3493008"/>
            <a:ext cx="1325880" cy="804672"/>
          </a:xfrm>
          <a:prstGeom prst="roundRect">
            <a:avLst>
              <a:gd name="adj" fmla="val 9090"/>
            </a:avLst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176272" y="3493008"/>
            <a:ext cx="11795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Смысл речи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429000" y="3895344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703320" y="3493008"/>
            <a:ext cx="224028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776472" y="3493008"/>
            <a:ext cx="20939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7272A"/>
                </a:solidFill>
                <a:latin typeface="Arial"/>
              </a:rPr>
              <a:t>Whisper → транскрипт всей речи отрезка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943600" y="3895344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217920" y="3493008"/>
            <a:ext cx="1600200" cy="804672"/>
          </a:xfrm>
          <a:prstGeom prst="roundRect">
            <a:avLst>
              <a:gd name="adj" fmla="val 909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291072" y="3493008"/>
            <a:ext cx="145389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EmoRoBERTa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готовые веса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818120" y="3895344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092440" y="3493008"/>
            <a:ext cx="105156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165592" y="3493008"/>
            <a:ext cx="90525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27272A"/>
                </a:solidFill>
                <a:latin typeface="Arial"/>
              </a:rPr>
              <a:t>вектор 1536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9144000" y="3685032"/>
            <a:ext cx="320040" cy="210312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783080" y="4864608"/>
            <a:ext cx="32004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2103120" y="4462272"/>
            <a:ext cx="1325880" cy="804672"/>
          </a:xfrm>
          <a:prstGeom prst="roundRect">
            <a:avLst>
              <a:gd name="adj" fmla="val 9090"/>
            </a:avLst>
          </a:prstGeom>
          <a:solidFill>
            <a:srgbClr val="A162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2176272" y="4462272"/>
            <a:ext cx="11795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Поведение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429000" y="4864608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3703320" y="4462272"/>
            <a:ext cx="224028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776472" y="4462272"/>
            <a:ext cx="209397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27272A"/>
                </a:solidFill>
                <a:latin typeface="Arial"/>
              </a:rPr>
              <a:t>16 кадров отрезка → Qwen-VL пишет описание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943600" y="4864608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6217920" y="4462272"/>
            <a:ext cx="1600200" cy="804672"/>
          </a:xfrm>
          <a:prstGeom prst="roundRect">
            <a:avLst>
              <a:gd name="adj" fmla="val 909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291072" y="4462272"/>
            <a:ext cx="1453896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EmoRoBERTa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готовые веса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818120" y="4864608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8092440" y="4462272"/>
            <a:ext cx="1051560" cy="804672"/>
          </a:xfrm>
          <a:prstGeom prst="roundRect">
            <a:avLst>
              <a:gd name="adj" fmla="val 909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165592" y="4462272"/>
            <a:ext cx="905255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27272A"/>
                </a:solidFill>
                <a:latin typeface="Arial"/>
              </a:rPr>
              <a:t>вектор 1536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9144000" y="4142232"/>
            <a:ext cx="320040" cy="722376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9464040" y="2240280"/>
            <a:ext cx="2148840" cy="2514600"/>
          </a:xfrm>
          <a:prstGeom prst="roundRect">
            <a:avLst>
              <a:gd name="adj" fmla="val 3404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9464040" y="2240280"/>
            <a:ext cx="2148840" cy="2514600"/>
          </a:xfrm>
          <a:prstGeom prst="rect">
            <a:avLst/>
          </a:prstGeom>
          <a:noFill/>
        </p:spPr>
        <p:txBody>
          <a:bodyPr wrap="square" anchor="ctr" tIns="91440" bIns="9144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</a:rPr>
              <a:t>Графовое слияние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обучил я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7272A"/>
                </a:solidFill>
                <a:latin typeface="Arial"/>
              </a:rPr>
              <a:t/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Arial"/>
              </a:rPr>
              <a:t>четыре набора признаков сводятся вместе с учётом связей между ними (графовое и перекрёстное внимание)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0533888" y="4754880"/>
            <a:ext cx="0" cy="22860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9464040" y="4983480"/>
            <a:ext cx="2148840" cy="685800"/>
          </a:xfrm>
          <a:prstGeom prst="roundRect">
            <a:avLst>
              <a:gd name="adj" fmla="val 10666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537192" y="4983480"/>
            <a:ext cx="200253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Big Five + «собеседование»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D4D4D8"/>
                </a:solidFill>
                <a:latin typeface="Arial"/>
              </a:rPr>
              <a:t>шесть чисел от 0 до 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" y="5440680"/>
            <a:ext cx="274320" cy="201168"/>
          </a:xfrm>
          <a:prstGeom prst="roundRect">
            <a:avLst>
              <a:gd name="adj" fmla="val 36363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96112" y="53949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2525B"/>
                </a:solidFill>
                <a:latin typeface="Arial"/>
              </a:rPr>
              <a:t>голубой — готовые веса, не дообучались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840480" y="5440680"/>
            <a:ext cx="274320" cy="201168"/>
          </a:xfrm>
          <a:prstGeom prst="roundRect">
            <a:avLst>
              <a:gd name="adj" fmla="val 36363"/>
            </a:avLst>
          </a:prstGeom>
          <a:solidFill>
            <a:srgbClr val="F4F4F5"/>
          </a:solidFill>
          <a:ln w="12700">
            <a:solidFill>
              <a:srgbClr val="D4D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4187952" y="53949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2525B"/>
                </a:solidFill>
                <a:latin typeface="Arial"/>
              </a:rPr>
              <a:t>светло-серый — подготовка данных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949440" y="5440680"/>
            <a:ext cx="274320" cy="201168"/>
          </a:xfrm>
          <a:prstGeom prst="roundRect">
            <a:avLst>
              <a:gd name="adj" fmla="val 36363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296912" y="53949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2525B"/>
                </a:solidFill>
                <a:latin typeface="Arial"/>
              </a:rPr>
              <a:t>оранжевый — обучил 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71500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Как обучал: </a:t>
            </a:r>
            <a:r>
              <a:rPr sz="1050" b="0" i="0">
                <a:solidFill>
                  <a:srgbClr val="27272A"/>
                </a:solidFill>
                <a:latin typeface="Arial"/>
              </a:rPr>
              <a:t>на 6000 роликах First Impressions V2, пять запусков и усреднение; </a:t>
            </a:r>
            <a:r>
              <a:rPr sz="1050" b="1" i="0">
                <a:solidFill>
                  <a:srgbClr val="27272A"/>
                </a:solidFill>
                <a:latin typeface="Arial"/>
              </a:rPr>
              <a:t>ансамбль с OCEAN-AI </a:t>
            </a:r>
            <a:r>
              <a:rPr sz="1050" b="0" i="0">
                <a:solidFill>
                  <a:srgbClr val="27272A"/>
                </a:solidFill>
                <a:latin typeface="Arial"/>
              </a:rPr>
              <a:t>точнее любой из двух систем по отдельности.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C2410C"/>
                </a:solidFill>
                <a:latin typeface="Arial"/>
              </a:rPr>
              <a:t>Почему не всё с нуля: </a:t>
            </a:r>
            <a:r>
              <a:rPr sz="1050" b="0" i="0">
                <a:solidFill>
                  <a:srgbClr val="27272A"/>
                </a:solidFill>
                <a:latin typeface="Arial"/>
              </a:rPr>
              <a:t>обучить собственные кодировщики лица, голоса и текста можно, но для этого нужны десятки тысяч размеченных роликов. Открытых размеченных данных хватает только на слияние — его я и обучил.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сделано в Claude Code, модель Fable 5.1, режим Ultracode · © 2026 AMLAI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27272A"/>
                </a:solidFill>
                <a:latin typeface="Arial"/>
              </a:rPr>
              <a:t>Конвейер сегодня: от ролика до отчёта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2525B"/>
                </a:solidFill>
                <a:latin typeface="Arial"/>
              </a:rPr>
              <a:t>Один проход по ролику даёт оценку личности, эмоции, голос, мимику и манеру речи на общей оси времени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651760"/>
            <a:ext cx="1463040" cy="1188720"/>
          </a:xfrm>
          <a:prstGeom prst="roundRect">
            <a:avLst>
              <a:gd name="adj" fmla="val 6153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21792" y="2651760"/>
            <a:ext cx="1316736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Ролик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D4D4D8"/>
                </a:solidFill>
                <a:latin typeface="Arial"/>
              </a:rPr>
              <a:t>любой длины, речь русская или английская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011680" y="3246120"/>
            <a:ext cx="27432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86000" y="2651760"/>
            <a:ext cx="1737360" cy="1188720"/>
          </a:xfrm>
          <a:prstGeom prst="roundRect">
            <a:avLst>
              <a:gd name="adj" fmla="val 6153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359152" y="2651760"/>
            <a:ext cx="1591056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7272A"/>
                </a:solidFill>
                <a:latin typeface="Arial"/>
              </a:rPr>
              <a:t>Отрезки по 20 с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весь ролик без пропусков; Whisper распознаёт речь с метками времени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54480"/>
            <a:ext cx="3566160" cy="713232"/>
          </a:xfrm>
          <a:prstGeom prst="roundRect">
            <a:avLst>
              <a:gd name="adj" fmla="val 102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581144" y="1673352"/>
            <a:ext cx="146304" cy="146304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18888" y="1600200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Big 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1883664"/>
            <a:ext cx="32918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OCEAN-AI (лицо 5 кадров в секунду, голос, текст) + моя модель: основная оценка и второе мнение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4023360" y="1911095"/>
            <a:ext cx="411480" cy="1335025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34840" y="2377440"/>
            <a:ext cx="3566160" cy="713232"/>
          </a:xfrm>
          <a:prstGeom prst="roundRect">
            <a:avLst>
              <a:gd name="adj" fmla="val 102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581144" y="2496312"/>
            <a:ext cx="146304" cy="146304"/>
          </a:xfrm>
          <a:prstGeom prst="ellipse">
            <a:avLst/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818888" y="2423160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Эмоции по смыслу речи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2706624"/>
            <a:ext cx="32918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EmoRoBERTa — семь эмоций по транскрипту каждого отрезка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4023360" y="2734056"/>
            <a:ext cx="411480" cy="512064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434840" y="3200400"/>
            <a:ext cx="3566160" cy="713232"/>
          </a:xfrm>
          <a:prstGeom prst="roundRect">
            <a:avLst>
              <a:gd name="adj" fmla="val 102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581144" y="3319272"/>
            <a:ext cx="146304" cy="146304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818888" y="3246120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Голос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3529584"/>
            <a:ext cx="32918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wav2vec2 (audeering) — возбуждение, уверенность, позитивность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23360" y="3246120"/>
            <a:ext cx="411480" cy="310896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434840" y="4023360"/>
            <a:ext cx="3566160" cy="713232"/>
          </a:xfrm>
          <a:prstGeom prst="roundRect">
            <a:avLst>
              <a:gd name="adj" fmla="val 102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4581144" y="4142232"/>
            <a:ext cx="146304" cy="14630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818888" y="4069080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Мимика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1144" y="4352544"/>
            <a:ext cx="32918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выражения лица (7 классов) по кадрам + движение головы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23360" y="3246120"/>
            <a:ext cx="411480" cy="1133856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34840" y="4846320"/>
            <a:ext cx="3566160" cy="713232"/>
          </a:xfrm>
          <a:prstGeom prst="roundRect">
            <a:avLst>
              <a:gd name="adj" fmla="val 10256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4581144" y="4965192"/>
            <a:ext cx="146304" cy="146304"/>
          </a:xfrm>
          <a:prstGeom prst="ellipse">
            <a:avLst/>
          </a:prstGeom>
          <a:solidFill>
            <a:srgbClr val="A162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818888" y="4892040"/>
            <a:ext cx="3063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7272A"/>
                </a:solidFill>
                <a:latin typeface="Arial"/>
              </a:rPr>
              <a:t>Манера речи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1144" y="5175504"/>
            <a:ext cx="329184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темп, паузы, слова-заполнители, длина фразы, словарь — по транскрипту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023360" y="3246120"/>
            <a:ext cx="411480" cy="1956816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1554480"/>
            <a:ext cx="3200400" cy="1143000"/>
          </a:xfrm>
          <a:prstGeom prst="roundRect">
            <a:avLst>
              <a:gd name="adj" fmla="val 64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485632" y="1554480"/>
            <a:ext cx="305409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7272A"/>
                </a:solidFill>
                <a:latin typeface="Arial"/>
              </a:rPr>
              <a:t>Объяснения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ключевые кадры, вклад каждой модальности, слова, повлиявшие на оценку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2880360"/>
            <a:ext cx="3200400" cy="1143000"/>
          </a:xfrm>
          <a:prstGeom prst="roundRect">
            <a:avLst>
              <a:gd name="adj" fmla="val 64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485632" y="2880360"/>
            <a:ext cx="305409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7272A"/>
                </a:solidFill>
                <a:latin typeface="Arial"/>
              </a:rPr>
              <a:t>Понятный русский текст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краткие выводы из чисел; описания и транскрипт переводит локальная языковая модель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12480" y="4206240"/>
            <a:ext cx="3200400" cy="1463040"/>
          </a:xfrm>
          <a:prstGeom prst="roundRect">
            <a:avLst>
              <a:gd name="adj" fmla="val 5000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85632" y="4206240"/>
            <a:ext cx="3054096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Arial"/>
              </a:rPr>
              <a:t>Страница и печатный отчёт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D4D4D8"/>
                </a:solidFill>
                <a:latin typeface="Arial"/>
              </a:rPr>
              <a:t>графики по ходу ролика, тепловая карта эмоций, профиль Big Five, второе мнение, PDF на 7 страниц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001000" y="1911095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001000" y="2734056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001000" y="3557016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001000" y="4379976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001000" y="5202936"/>
            <a:ext cx="274320" cy="0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275320" y="1911095"/>
            <a:ext cx="0" cy="3291841"/>
          </a:xfrm>
          <a:prstGeom prst="line">
            <a:avLst/>
          </a:prstGeom>
          <a:ln w="19050">
            <a:solidFill>
              <a:srgbClr val="717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275320" y="2121408"/>
            <a:ext cx="13716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275320" y="3447288"/>
            <a:ext cx="13716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275320" y="4937760"/>
            <a:ext cx="137160" cy="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012680" y="2697480"/>
            <a:ext cx="0" cy="18288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012680" y="4023360"/>
            <a:ext cx="0" cy="182880"/>
          </a:xfrm>
          <a:prstGeom prst="line">
            <a:avLst/>
          </a:prstGeom>
          <a:ln w="19050">
            <a:solidFill>
              <a:srgbClr val="7171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48640" y="576072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Как смотрю ролик: </a:t>
            </a:r>
            <a:r>
              <a:rPr sz="1050" b="0" i="0">
                <a:solidFill>
                  <a:srgbClr val="27272A"/>
                </a:solidFill>
                <a:latin typeface="Arial"/>
              </a:rPr>
              <a:t>целиком, без пропусков, отрезками по 20 с. Внутри отрезка: лицо — 30 кадров для моей модели и 5 кадров в секунду для OCEAN-AI, описание поведения — по 16 кадрам, мимика — по 12 кадрам, звук и речь — полностью.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Всё локально: </a:t>
            </a:r>
            <a:r>
              <a:rPr sz="1050" b="0" i="0">
                <a:solidFill>
                  <a:srgbClr val="27272A"/>
                </a:solidFill>
                <a:latin typeface="Arial"/>
              </a:rPr>
              <a:t>одна видеокарта, данные не покидают компьютер. Обработка занимает примерно столько же, сколько длится ролик.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сделано в Claude Code, модель Fable 5.1, режим Ultracode · © 2026 AMLAI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27272A"/>
                </a:solidFill>
                <a:latin typeface="Arial"/>
              </a:rPr>
              <a:t>Что получилось к сегодняшнему дню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2525B"/>
                </a:solidFill>
                <a:latin typeface="Arial"/>
              </a:rPr>
              <a:t>Рабочая система с проверенной точностью и понятным отчётом на русском языке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53619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C2410C"/>
                </a:solidFill>
                <a:latin typeface="Arial"/>
              </a:rPr>
              <a:t>0.927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точность ансамбля** на тестовой части First Impressions V2; в статье — 0.918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46304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29000" y="153619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C2410C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2194560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русских роликов обработано целиком,
создана опорная группа для сравнения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1752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309067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C2410C"/>
                </a:solidFill>
                <a:latin typeface="Arial"/>
              </a:rPr>
              <a:t>5 + 4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49039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черт Big Five и дополнительных
измерений: эмоции, голос, мимика, речь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301752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29000" y="3090672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C2410C"/>
                </a:solidFill>
                <a:latin typeface="Arial"/>
              </a:rPr>
              <a:t>≈ 1×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749039"/>
            <a:ext cx="2148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2525B"/>
                </a:solidFill>
                <a:latin typeface="Arial"/>
              </a:rPr>
              <a:t>время обработки к длине ролика:
шестиминутный ролик — около 7 минут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5943600" y="1371600"/>
          <a:ext cx="566928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48640" y="4480560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* График построен на тестовой части First Impressions V2: 1997 роликов по 15 с, каждый заранее оценён по пяти чертам группой наблюдателей. Для каждого ролика я сравнил оценки системы с оценками людей; CCC учитывает и уровень, и порядок оценок. Число для статьи — из публикации MM-PSYCHE. Ось начинается с 0.5, чтобы различия были видны.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 i="0">
                <a:solidFill>
                  <a:srgbClr val="52525B"/>
                </a:solidFill>
                <a:latin typeface="Arial"/>
              </a:rPr>
              <a:t>** 0.927 = 1 − средняя ошибка: на тех же 1997 роликах оценка ансамбля отличалась от оценки людей в среднем на 0.073 балла по шкале от 0 до 1 (среднее по пяти чертам). У статьи MM-PSYCHE тот же показатель — 0.918.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749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27272A"/>
                </a:solidFill>
                <a:latin typeface="Arial"/>
              </a:rPr>
              <a:t>Что человек получает по каждому ролику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39496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58368" y="5504688"/>
            <a:ext cx="109728" cy="109728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41247" y="544982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Профиль Big Five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77900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оценка и второе мнение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14016" y="539496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2523744" y="5504688"/>
            <a:ext cx="109728" cy="109728"/>
          </a:xfrm>
          <a:prstGeom prst="ellipse">
            <a:avLst/>
          </a:prstGeom>
          <a:solidFill>
            <a:srgbClr val="7E2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706624" y="544982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Эмоции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23744" y="577900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по речи и по лицу, по ходу ролика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9392" y="539496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4389120" y="5504688"/>
            <a:ext cx="109728" cy="109728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572000" y="544982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Голос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577900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возбуждение, уверенность, позитивность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539496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6254496" y="550468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437376" y="544982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Мимика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4496" y="577900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выражения лица, движение головы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10144" y="539496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119871" y="5504688"/>
            <a:ext cx="109728" cy="109728"/>
          </a:xfrm>
          <a:prstGeom prst="ellipse">
            <a:avLst/>
          </a:prstGeom>
          <a:solidFill>
            <a:srgbClr val="A162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02752" y="544982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Манера речи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19871" y="577900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темп, паузы, частые слова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75519" y="539496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9985247" y="5504688"/>
            <a:ext cx="109728" cy="109728"/>
          </a:xfrm>
          <a:prstGeom prst="ellipse">
            <a:avLst/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0168128" y="544982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27272A"/>
                </a:solidFill>
                <a:latin typeface="Arial"/>
              </a:rPr>
              <a:t>Объяснения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85247" y="577900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2525B"/>
                </a:solidFill>
                <a:latin typeface="Arial"/>
              </a:rPr>
              <a:t>кадры, вклад модальностей, слова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сделано в Claude Code, модель Fable 5.1, режим Ultracode · © 2026 AMLAI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27272A"/>
                </a:solidFill>
                <a:latin typeface="Arial"/>
              </a:rPr>
              <a:t>Как нам дальше улучшить систему?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2525B"/>
                </a:solidFill>
                <a:latin typeface="Arial"/>
              </a:rPr>
              <a:t>Девяти роликов хватило, чтобы запустить систему, но не чтобы сверить её с мнением людей и настроить. Вот что для этого нужно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520440" cy="3657600"/>
          </a:xfrm>
          <a:prstGeom prst="roundRect">
            <a:avLst>
              <a:gd name="adj" fmla="val 2077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731520" y="1755648"/>
            <a:ext cx="365760" cy="365760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7" y="1737360"/>
            <a:ext cx="2697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7272A"/>
                </a:solidFill>
                <a:latin typeface="Arial"/>
              </a:rPr>
              <a:t>Ролики и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3118104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Записать ещё ролики: человек говорит в камеру, лицо крупно, русская речь, 3–10 минут, разные люди и условия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30 роликов — сравнение систем; 100 — калибровка шкалы; от 300 — дообучение на русском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Согласие участников на обработку и хранение видео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Письмо авторам: корпус MuPTA (русская речь, выдаётся по запросу) и веса SSL-MEPR для лица и тела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554480"/>
            <a:ext cx="3520440" cy="3657600"/>
          </a:xfrm>
          <a:prstGeom prst="roundRect">
            <a:avLst>
              <a:gd name="adj" fmla="val 2077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498848" y="1755648"/>
            <a:ext cx="365760" cy="365760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4336" y="1737360"/>
            <a:ext cx="2697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7272A"/>
                </a:solidFill>
                <a:latin typeface="Arial"/>
              </a:rPr>
              <a:t>Оценки живых людей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331720"/>
            <a:ext cx="3118104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Каждый ролик смотрят не меньше трёх человек, не знакомых с тем, кто в кадре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Пять черт по шкале 1–7: «каким этот человек кажется», плюс «пригласил бы на собеседование»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Одна короткая инструкция для всех, оценки не обсуждаются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Единая таблица разметки; согласие оценщиков между собой — мера того, чего вообще можно достичь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554480"/>
            <a:ext cx="3520440" cy="3657600"/>
          </a:xfrm>
          <a:prstGeom prst="roundRect">
            <a:avLst>
              <a:gd name="adj" fmla="val 2077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266175" y="1755648"/>
            <a:ext cx="365760" cy="365760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1664" y="1737360"/>
            <a:ext cx="2697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 i="0">
                <a:solidFill>
                  <a:srgbClr val="27272A"/>
                </a:solidFill>
                <a:latin typeface="Arial"/>
              </a:rPr>
              <a:t>Разметка профайлера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331720"/>
            <a:ext cx="3118104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Время начала и конца каждого эпизода (не скриншоты) — в программе разметки или в таблице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Размечен весь ролик или заданные отрезки, включая отметки «ничего заметного»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Определения паттернов («влево» — с точки зрения говорящего или зрителя), сила эпизода 1–3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200" b="1" i="0">
                <a:solidFill>
                  <a:srgbClr val="C2410C"/>
                </a:solidFill>
                <a:latin typeface="Arial"/>
              </a:rPr>
              <a:t>•  </a:t>
            </a:r>
            <a:r>
              <a:rPr sz="1200" b="0" i="0">
                <a:solidFill>
                  <a:srgbClr val="27272A"/>
                </a:solidFill>
                <a:latin typeface="Arial"/>
              </a:rPr>
              <a:t>Второй разметчик на 20–30 % материала; ориентир — 30 эпизодов на паттерн у 10 человек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40680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 i="0">
                <a:solidFill>
                  <a:srgbClr val="C2410C"/>
                </a:solidFill>
                <a:latin typeface="Arial"/>
              </a:rPr>
              <a:t>Что это даст: </a:t>
            </a:r>
            <a:r>
              <a:rPr sz="1100" b="0" i="0">
                <a:solidFill>
                  <a:srgbClr val="27272A"/>
                </a:solidFill>
                <a:latin typeface="Arial"/>
              </a:rPr>
              <a:t>измерить точность на русскоязычных роликах и выбрать шкалу, откалибровать оценки под мнение людей, проверить эмоции, голос и мимику, настроить поиск поведенческих паттернов.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100" b="1" i="0">
                <a:solidFill>
                  <a:srgbClr val="C2410C"/>
                </a:solidFill>
                <a:latin typeface="Arial"/>
              </a:rPr>
              <a:t>Собственная модель для русской речи </a:t>
            </a:r>
            <a:r>
              <a:rPr sz="1100" b="0" i="0">
                <a:solidFill>
                  <a:srgbClr val="27272A"/>
                </a:solidFill>
                <a:latin typeface="Arial"/>
              </a:rPr>
              <a:t>возможна, но только на большом числе размеченных роликов: от 300 — дообучение, тысячи — обучение с нуля. Поэтому данные и разметка сейчас важнее любого нового кода.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71717A"/>
                </a:solidFill>
                <a:latin typeface="Arial"/>
              </a:rPr>
              <a:t>BS 2.0 · анализ человека по видео · сделано в Claude Code, модель Fable 5.1, режим Ultracode · © 2026 AMLAI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