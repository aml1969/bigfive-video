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27272A"/>
                </a:solidFill>
                <a:latin typeface="Arial"/>
              </a:rPr>
              <a:t>Насколько оценка совпадает с мнением людей (CCC, чем ближе к 1, тем лучше)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Согласованность</c:v>
                </c:pt>
              </c:strCache>
            </c:strRef>
          </c:tx>
          <c:dPt>
            <c:idx val="0"/>
            <c:spPr>
              <a:solidFill>
                <a:srgbClr val="71717A"/>
              </a:solidFill>
            </c:spPr>
          </c:dPt>
          <c:dPt>
            <c:idx val="1"/>
            <c:spPr>
              <a:solidFill>
                <a:srgbClr val="0F766E"/>
              </a:solidFill>
            </c:spPr>
          </c:dPt>
          <c:dPt>
            <c:idx val="2"/>
            <c:spPr>
              <a:solidFill>
                <a:srgbClr val="C2410C"/>
              </a:solidFill>
            </c:spPr>
          </c:dPt>
          <c:dPt>
            <c:idx val="3"/>
            <c:spPr>
              <a:solidFill>
                <a:srgbClr val="27272A"/>
              </a:solidFill>
            </c:spPr>
          </c:dPt>
          <c:cat>
            <c:strRef>
              <c:f>Sheet1!$A$2:$A$5</c:f>
              <c:strCache>
                <c:ptCount val="4"/>
                <c:pt idx="0">
                  <c:v>OCEAN-AI
(готовые веса)</c:v>
                </c:pt>
                <c:pt idx="1">
                  <c:v>Своя модель</c:v>
                </c:pt>
                <c:pt idx="2">
                  <c:v>Ансамбль двух
систем</c:v>
                </c:pt>
                <c:pt idx="3">
                  <c:v>Статья
MM-PSYCHE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0.703</c:v>
                </c:pt>
                <c:pt idx="1">
                  <c:v>0.715</c:v>
                </c:pt>
                <c:pt idx="2">
                  <c:v>0.733</c:v>
                </c:pt>
                <c:pt idx="3">
                  <c:v>0.74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100" b="1">
                  <a:solidFill>
                    <a:srgbClr val="27272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4D4D8"/>
            </a:solidFill>
          </a:ln>
        </c:spPr>
        <c:txPr>
          <a:bodyPr/>
          <a:lstStyle/>
          <a:p>
            <a:pPr>
              <a:defRPr sz="950">
                <a:solidFill>
                  <a:srgbClr val="27272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8"/>
          <c:min val="0.5"/>
        </c:scaling>
        <c:delete val="0"/>
        <c:axPos val="l"/>
        <c:majorGridlines>
          <c:spPr>
            <a:ln>
              <a:solidFill>
                <a:srgbClr val="D4D4D8"/>
              </a:solidFill>
            </a:ln>
          </c:spPr>
        </c:majorGridlines>
        <c:numFmt formatCode="0.0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2525B"/>
                </a:solidFill>
                <a:latin typeface="Arial"/>
              </a:defRPr>
            </a:pPr>
          </a:p>
        </c:txPr>
        <c:crossAx val="-2068027336"/>
        <c:crosses val="autoZero"/>
        <c:majorUnit val="0.1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27272A"/>
                </a:solidFill>
                <a:latin typeface="Arial"/>
              </a:rPr>
              <a:t>С чего начали и что нашли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2525B"/>
                </a:solidFill>
                <a:latin typeface="Arial"/>
              </a:rPr>
              <a:t>Задача: локальная программа «видео на входе → оценка Big Five и поведения на выходе», всё считается на одном компьютере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4114800" cy="4160520"/>
          </a:xfrm>
          <a:prstGeom prst="roundRect">
            <a:avLst>
              <a:gd name="adj" fmla="val 1777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27272A"/>
                </a:solidFill>
                <a:latin typeface="Arial"/>
              </a:rPr>
              <a:t>Отправная точка — научная статья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3657600" cy="352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250" b="1" i="0">
                <a:solidFill>
                  <a:srgbClr val="27272A"/>
                </a:solidFill>
                <a:latin typeface="Arial"/>
              </a:rPr>
              <a:t>MM-PSYCHE</a:t>
            </a:r>
            <a:r>
              <a:rPr sz="1250" b="0" i="0">
                <a:solidFill>
                  <a:srgbClr val="27272A"/>
                </a:solidFill>
                <a:latin typeface="Arial"/>
              </a:rPr>
              <a:t> (LEYA-HSE, IEEE Access, 2026): личность оценивают по четырём модальностям — лицо, голос, смысл речи и текстовое описание поведения — и сводят их графовой сетью в пять черт.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250" b="1" i="0">
                <a:solidFill>
                  <a:srgbClr val="27272A"/>
                </a:solidFill>
                <a:latin typeface="Arial"/>
              </a:rPr>
              <a:t>Что было открыто: </a:t>
            </a:r>
            <a:r>
              <a:rPr sz="1250" b="0" i="0">
                <a:solidFill>
                  <a:srgbClr val="27272A"/>
                </a:solidFill>
                <a:latin typeface="Arial"/>
              </a:rPr>
              <a:t>код обучения, рецепт признаков, разметка 10 000 роликов.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250" b="1" i="0">
                <a:solidFill>
                  <a:srgbClr val="27272A"/>
                </a:solidFill>
                <a:latin typeface="Arial"/>
              </a:rPr>
              <a:t>Чего не было: </a:t>
            </a:r>
            <a:r>
              <a:rPr sz="1250" b="0" i="0">
                <a:solidFill>
                  <a:srgbClr val="27272A"/>
                </a:solidFill>
                <a:latin typeface="Arial"/>
              </a:rPr>
              <a:t>обученных весов, готовой программы «одно видео → результат», интерфейса.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250" b="1" i="0">
                <a:solidFill>
                  <a:srgbClr val="C2410C"/>
                </a:solidFill>
                <a:latin typeface="Arial"/>
              </a:rPr>
              <a:t>Решение: </a:t>
            </a:r>
            <a:r>
              <a:rPr sz="1250" b="0" i="0">
                <a:solidFill>
                  <a:srgbClr val="27272A"/>
                </a:solidFill>
                <a:latin typeface="Arial"/>
              </a:rPr>
              <a:t>сначала запустить готовые системы тех же авторов, затем обучить свою модель по рецепту статьи и объединить их в ансамбль.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600200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27272A"/>
                </a:solidFill>
                <a:latin typeface="Arial"/>
              </a:rPr>
              <a:t>Что нашли и проверили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1874519"/>
            <a:ext cx="3200400" cy="1691640"/>
          </a:xfrm>
          <a:prstGeom prst="roundRect">
            <a:avLst>
              <a:gd name="adj" fmla="val 432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5166360" y="2029967"/>
            <a:ext cx="292608" cy="29260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59552" y="2002536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27272A"/>
                </a:solidFill>
                <a:latin typeface="Arial"/>
              </a:rPr>
              <a:t>Данные: First Impressions V2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0" y="2404872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52525B"/>
                </a:solidFill>
                <a:latin typeface="Arial"/>
              </a:rPr>
              <a:t>10 000 роликов по 15 с из англоязычных видеоблогов с разметкой пяти черт и метки «пригласить на собеседование». Открытое зеркало, 29 ГБ, скачано и проверено полностью.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1874519"/>
            <a:ext cx="3200400" cy="1691640"/>
          </a:xfrm>
          <a:prstGeom prst="roundRect">
            <a:avLst>
              <a:gd name="adj" fmla="val 432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8549640" y="2029967"/>
            <a:ext cx="292608" cy="292608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42832" y="2002536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27272A"/>
                </a:solidFill>
                <a:latin typeface="Arial"/>
              </a:rPr>
              <a:t>Готовая система: OCEAN-AI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2404872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52525B"/>
                </a:solidFill>
                <a:latin typeface="Arial"/>
              </a:rPr>
              <a:t>Система тех же авторов с открытыми весами: аудио + видео + текст. Два набора весов — для английской речи (First Impressions V2) и для русской (корпус MuPTA).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3749039"/>
            <a:ext cx="3200400" cy="1691640"/>
          </a:xfrm>
          <a:prstGeom prst="roundRect">
            <a:avLst>
              <a:gd name="adj" fmla="val 432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166360" y="3904487"/>
            <a:ext cx="292608" cy="292608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59552" y="3877055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27272A"/>
                </a:solidFill>
                <a:latin typeface="Arial"/>
              </a:rPr>
              <a:t>Кодировщики признаков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6360" y="4279392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52525B"/>
                </a:solidFill>
                <a:latin typeface="Arial"/>
              </a:rPr>
              <a:t>Готовые модели, которые мы не дообучали: CLIP — лицо, CLAP — голос, EmoRoBERTa — текст, Whisper — речь в текст, Qwen-VL — описание поведения по кадрам.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0" y="3749039"/>
            <a:ext cx="3200400" cy="1691640"/>
          </a:xfrm>
          <a:prstGeom prst="roundRect">
            <a:avLst>
              <a:gd name="adj" fmla="val 432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8549640" y="3904487"/>
            <a:ext cx="292608" cy="292608"/>
          </a:xfrm>
          <a:prstGeom prst="ellipse">
            <a:avLst/>
          </a:prstGeom>
          <a:solidFill>
            <a:srgbClr val="7E2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42832" y="3877055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27272A"/>
                </a:solidFill>
                <a:latin typeface="Arial"/>
              </a:rPr>
              <a:t>Предшественник: SSL-MEPR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4279392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52525B"/>
                </a:solidFill>
                <a:latin typeface="Arial"/>
              </a:rPr>
              <a:t>Пять модальностей, но веса лица и тела авторы не опубликовали. Использован как ориентир по точности, не как основа.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5897880"/>
            <a:ext cx="10789920" cy="0"/>
          </a:xfrm>
          <a:prstGeom prst="line">
            <a:avLst/>
          </a:prstGeom>
          <a:ln w="25400">
            <a:solidFill>
              <a:srgbClr val="D4D4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1005839" y="5815584"/>
            <a:ext cx="164592" cy="16459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0" y="6035040"/>
            <a:ext cx="2194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27272A"/>
                </a:solidFill>
                <a:latin typeface="Arial"/>
              </a:rPr>
              <a:t>14 сентября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25B"/>
                </a:solidFill>
                <a:latin typeface="Arial"/>
              </a:rPr>
              <a:t>статья, техническое задание</a:t>
            </a:r>
          </a:p>
        </p:txBody>
      </p:sp>
      <p:sp>
        <p:nvSpPr>
          <p:cNvPr id="27" name="Oval 26"/>
          <p:cNvSpPr/>
          <p:nvPr/>
        </p:nvSpPr>
        <p:spPr>
          <a:xfrm>
            <a:off x="3474720" y="5815584"/>
            <a:ext cx="164592" cy="16459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68880" y="6035040"/>
            <a:ext cx="2194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27272A"/>
                </a:solidFill>
                <a:latin typeface="Arial"/>
              </a:rPr>
              <a:t>14–15 сентября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25B"/>
                </a:solidFill>
                <a:latin typeface="Arial"/>
              </a:rPr>
              <a:t>готовые веса, первый конвейер</a:t>
            </a:r>
          </a:p>
        </p:txBody>
      </p:sp>
      <p:sp>
        <p:nvSpPr>
          <p:cNvPr id="29" name="Oval 28"/>
          <p:cNvSpPr/>
          <p:nvPr/>
        </p:nvSpPr>
        <p:spPr>
          <a:xfrm>
            <a:off x="5943600" y="5815584"/>
            <a:ext cx="164592" cy="16459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37760" y="6035040"/>
            <a:ext cx="2194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27272A"/>
                </a:solidFill>
                <a:latin typeface="Arial"/>
              </a:rPr>
              <a:t>15 сентября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25B"/>
                </a:solidFill>
                <a:latin typeface="Arial"/>
              </a:rPr>
              <a:t>своя модель и ансамбль</a:t>
            </a:r>
          </a:p>
        </p:txBody>
      </p:sp>
      <p:sp>
        <p:nvSpPr>
          <p:cNvPr id="31" name="Oval 30"/>
          <p:cNvSpPr/>
          <p:nvPr/>
        </p:nvSpPr>
        <p:spPr>
          <a:xfrm>
            <a:off x="8412480" y="5815584"/>
            <a:ext cx="164592" cy="16459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06640" y="6035040"/>
            <a:ext cx="2194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27272A"/>
                </a:solidFill>
                <a:latin typeface="Arial"/>
              </a:rPr>
              <a:t>15–16 сентября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25B"/>
                </a:solidFill>
                <a:latin typeface="Arial"/>
              </a:rPr>
              <a:t>русские ролики, страница, PDF</a:t>
            </a:r>
          </a:p>
        </p:txBody>
      </p:sp>
      <p:sp>
        <p:nvSpPr>
          <p:cNvPr id="33" name="Oval 32"/>
          <p:cNvSpPr/>
          <p:nvPr/>
        </p:nvSpPr>
        <p:spPr>
          <a:xfrm>
            <a:off x="10881360" y="5815584"/>
            <a:ext cx="164592" cy="16459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0" y="6035040"/>
            <a:ext cx="2194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27272A"/>
                </a:solidFill>
                <a:latin typeface="Arial"/>
              </a:rPr>
              <a:t>16–20 сентября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25B"/>
                </a:solidFill>
                <a:latin typeface="Arial"/>
              </a:rPr>
              <a:t>эмоции, голос, мимика, речь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71717A"/>
                </a:solidFill>
                <a:latin typeface="Arial"/>
              </a:rPr>
              <a:t>BS 2.0 · анализ человека по видео · © 2026 AMLAI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27272A"/>
                </a:solidFill>
                <a:latin typeface="Arial"/>
              </a:rPr>
              <a:t>Своя модель: что взяли готовым и что обучили сами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2525B"/>
                </a:solidFill>
                <a:latin typeface="Arial"/>
              </a:rPr>
              <a:t>Ролик делится на отрезки по 20 с, каждый проходит весь конвейер; четыре взгляда на человека сводятся в одну оценку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234440" cy="3712464"/>
          </a:xfrm>
          <a:prstGeom prst="roundRect">
            <a:avLst>
              <a:gd name="adj" fmla="val 5925"/>
            </a:avLst>
          </a:prstGeom>
          <a:solidFill>
            <a:srgbClr val="272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234440" cy="37124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Видео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D4D4D8"/>
                </a:solidFill>
                <a:latin typeface="Arial"/>
              </a:rPr>
              <a:t>весь ролик, отрезками по 20 с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783080" y="1956816"/>
            <a:ext cx="32004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103120" y="1554480"/>
            <a:ext cx="1325880" cy="804672"/>
          </a:xfrm>
          <a:prstGeom prst="roundRect">
            <a:avLst>
              <a:gd name="adj" fmla="val 909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176272" y="1554480"/>
            <a:ext cx="117957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Лицо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29000" y="1956816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703320" y="1554480"/>
            <a:ext cx="2240280" cy="804672"/>
          </a:xfrm>
          <a:prstGeom prst="roundRect">
            <a:avLst>
              <a:gd name="adj" fmla="val 909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776472" y="1554480"/>
            <a:ext cx="209397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7272A"/>
                </a:solidFill>
                <a:latin typeface="Arial"/>
              </a:rPr>
              <a:t>30 кадров каждого отрезка → поиск лица (MediaPipe)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43600" y="1956816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217920" y="1554480"/>
            <a:ext cx="1600200" cy="804672"/>
          </a:xfrm>
          <a:prstGeom prst="roundRect">
            <a:avLst>
              <a:gd name="adj" fmla="val 9090"/>
            </a:avLst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291072" y="1554480"/>
            <a:ext cx="145389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27272A"/>
                </a:solidFill>
                <a:latin typeface="Arial"/>
              </a:rPr>
              <a:t>CLIP ViT-B/32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2525B"/>
                </a:solidFill>
                <a:latin typeface="Arial"/>
              </a:rPr>
              <a:t>готовые веса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8120" y="1956816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092440" y="1554480"/>
            <a:ext cx="1051560" cy="804672"/>
          </a:xfrm>
          <a:prstGeom prst="roundRect">
            <a:avLst>
              <a:gd name="adj" fmla="val 909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165592" y="1554480"/>
            <a:ext cx="905255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27272A"/>
                </a:solidFill>
                <a:latin typeface="Arial"/>
              </a:rPr>
              <a:t>вектор 1024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144000" y="1956816"/>
            <a:ext cx="320040" cy="813816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783080" y="2926079"/>
            <a:ext cx="32004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103120" y="2523744"/>
            <a:ext cx="1325880" cy="804672"/>
          </a:xfrm>
          <a:prstGeom prst="roundRect">
            <a:avLst>
              <a:gd name="adj" fmla="val 909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176272" y="2523744"/>
            <a:ext cx="117957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Голос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429000" y="2926079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703320" y="2523744"/>
            <a:ext cx="2240280" cy="804672"/>
          </a:xfrm>
          <a:prstGeom prst="roundRect">
            <a:avLst>
              <a:gd name="adj" fmla="val 909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776472" y="2523744"/>
            <a:ext cx="209397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7272A"/>
                </a:solidFill>
                <a:latin typeface="Arial"/>
              </a:rPr>
              <a:t>звуковая дорожка отрезка целиком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943600" y="2926079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217920" y="2523744"/>
            <a:ext cx="1600200" cy="804672"/>
          </a:xfrm>
          <a:prstGeom prst="roundRect">
            <a:avLst>
              <a:gd name="adj" fmla="val 9090"/>
            </a:avLst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91072" y="2523744"/>
            <a:ext cx="145389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27272A"/>
                </a:solidFill>
                <a:latin typeface="Arial"/>
              </a:rPr>
              <a:t>CLAP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2525B"/>
                </a:solidFill>
                <a:latin typeface="Arial"/>
              </a:rPr>
              <a:t>готовые веса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818120" y="2926079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092440" y="2523744"/>
            <a:ext cx="1051560" cy="804672"/>
          </a:xfrm>
          <a:prstGeom prst="roundRect">
            <a:avLst>
              <a:gd name="adj" fmla="val 909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165592" y="2523744"/>
            <a:ext cx="905255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27272A"/>
                </a:solidFill>
                <a:latin typeface="Arial"/>
              </a:rPr>
              <a:t>вектор 1536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144000" y="2926079"/>
            <a:ext cx="320040" cy="301753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783080" y="3895344"/>
            <a:ext cx="32004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2103120" y="3493008"/>
            <a:ext cx="1325880" cy="804672"/>
          </a:xfrm>
          <a:prstGeom prst="roundRect">
            <a:avLst>
              <a:gd name="adj" fmla="val 9090"/>
            </a:avLst>
          </a:prstGeom>
          <a:solidFill>
            <a:srgbClr val="7E2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2176272" y="3493008"/>
            <a:ext cx="117957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Смысл речи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429000" y="3895344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3703320" y="3493008"/>
            <a:ext cx="2240280" cy="804672"/>
          </a:xfrm>
          <a:prstGeom prst="roundRect">
            <a:avLst>
              <a:gd name="adj" fmla="val 909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776472" y="3493008"/>
            <a:ext cx="209397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7272A"/>
                </a:solidFill>
                <a:latin typeface="Arial"/>
              </a:rPr>
              <a:t>Whisper → транскрипт всей речи отрезка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943600" y="3895344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6217920" y="3493008"/>
            <a:ext cx="1600200" cy="804672"/>
          </a:xfrm>
          <a:prstGeom prst="roundRect">
            <a:avLst>
              <a:gd name="adj" fmla="val 9090"/>
            </a:avLst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291072" y="3493008"/>
            <a:ext cx="145389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27272A"/>
                </a:solidFill>
                <a:latin typeface="Arial"/>
              </a:rPr>
              <a:t>EmoRoBERTa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2525B"/>
                </a:solidFill>
                <a:latin typeface="Arial"/>
              </a:rPr>
              <a:t>готовые веса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818120" y="3895344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8092440" y="3493008"/>
            <a:ext cx="1051560" cy="804672"/>
          </a:xfrm>
          <a:prstGeom prst="roundRect">
            <a:avLst>
              <a:gd name="adj" fmla="val 909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8165592" y="3493008"/>
            <a:ext cx="905255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27272A"/>
                </a:solidFill>
                <a:latin typeface="Arial"/>
              </a:rPr>
              <a:t>вектор 1536</a:t>
            </a:r>
          </a:p>
        </p:txBody>
      </p:sp>
      <p:cxnSp>
        <p:nvCxnSpPr>
          <p:cNvPr id="44" name="Connector 43"/>
          <p:cNvCxnSpPr/>
          <p:nvPr/>
        </p:nvCxnSpPr>
        <p:spPr>
          <a:xfrm flipV="1">
            <a:off x="9144000" y="3685032"/>
            <a:ext cx="320040" cy="210312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783080" y="4864608"/>
            <a:ext cx="32004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2103120" y="4462272"/>
            <a:ext cx="1325880" cy="804672"/>
          </a:xfrm>
          <a:prstGeom prst="roundRect">
            <a:avLst>
              <a:gd name="adj" fmla="val 9090"/>
            </a:avLst>
          </a:prstGeom>
          <a:solidFill>
            <a:srgbClr val="A162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2176272" y="4462272"/>
            <a:ext cx="117957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Поведение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429000" y="4864608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3703320" y="4462272"/>
            <a:ext cx="2240280" cy="804672"/>
          </a:xfrm>
          <a:prstGeom prst="roundRect">
            <a:avLst>
              <a:gd name="adj" fmla="val 909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776472" y="4462272"/>
            <a:ext cx="209397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7272A"/>
                </a:solidFill>
                <a:latin typeface="Arial"/>
              </a:rPr>
              <a:t>16 кадров отрезка → Qwen-VL пишет описание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943600" y="4864608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6217920" y="4462272"/>
            <a:ext cx="1600200" cy="804672"/>
          </a:xfrm>
          <a:prstGeom prst="roundRect">
            <a:avLst>
              <a:gd name="adj" fmla="val 9090"/>
            </a:avLst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291072" y="4462272"/>
            <a:ext cx="145389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27272A"/>
                </a:solidFill>
                <a:latin typeface="Arial"/>
              </a:rPr>
              <a:t>EmoRoBERTa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2525B"/>
                </a:solidFill>
                <a:latin typeface="Arial"/>
              </a:rPr>
              <a:t>готовые веса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818120" y="4864608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8092440" y="4462272"/>
            <a:ext cx="1051560" cy="804672"/>
          </a:xfrm>
          <a:prstGeom prst="roundRect">
            <a:avLst>
              <a:gd name="adj" fmla="val 909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8165592" y="4462272"/>
            <a:ext cx="905255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27272A"/>
                </a:solidFill>
                <a:latin typeface="Arial"/>
              </a:rPr>
              <a:t>вектор 1536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9144000" y="4142232"/>
            <a:ext cx="320040" cy="722376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9464040" y="2240280"/>
            <a:ext cx="2148840" cy="2514600"/>
          </a:xfrm>
          <a:prstGeom prst="roundRect">
            <a:avLst>
              <a:gd name="adj" fmla="val 3404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9464040" y="2240280"/>
            <a:ext cx="2148840" cy="2514600"/>
          </a:xfrm>
          <a:prstGeom prst="rect">
            <a:avLst/>
          </a:prstGeom>
          <a:noFill/>
        </p:spPr>
        <p:txBody>
          <a:bodyPr wrap="square" anchor="ctr" tIns="91440" bIns="9144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Графовое слияние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обучили мы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7272A"/>
                </a:solidFill>
                <a:latin typeface="Arial"/>
              </a:rPr>
              <a:t/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Arial"/>
              </a:rPr>
              <a:t>четыре набора признаков сводятся вместе с учётом связей между ними (графовое и перекрёстное внимание)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10533888" y="4754880"/>
            <a:ext cx="0" cy="22860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9464040" y="4983480"/>
            <a:ext cx="2148840" cy="685800"/>
          </a:xfrm>
          <a:prstGeom prst="roundRect">
            <a:avLst>
              <a:gd name="adj" fmla="val 10666"/>
            </a:avLst>
          </a:prstGeom>
          <a:solidFill>
            <a:srgbClr val="272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9537192" y="4983480"/>
            <a:ext cx="2002536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Big Five + «собеседование»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D4D4D8"/>
                </a:solidFill>
                <a:latin typeface="Arial"/>
              </a:rPr>
              <a:t>шесть чисел от 0 до 1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48640" y="5440680"/>
            <a:ext cx="274320" cy="201168"/>
          </a:xfrm>
          <a:prstGeom prst="roundRect">
            <a:avLst>
              <a:gd name="adj" fmla="val 36363"/>
            </a:avLst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896112" y="539496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2525B"/>
                </a:solidFill>
                <a:latin typeface="Arial"/>
              </a:rPr>
              <a:t>серый — готовые веса, не дообучались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840480" y="5440680"/>
            <a:ext cx="274320" cy="201168"/>
          </a:xfrm>
          <a:prstGeom prst="roundRect">
            <a:avLst>
              <a:gd name="adj" fmla="val 36363"/>
            </a:avLst>
          </a:prstGeom>
          <a:solidFill>
            <a:srgbClr val="F4F4F5"/>
          </a:solidFill>
          <a:ln w="12700">
            <a:solidFill>
              <a:srgbClr val="D4D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4187952" y="539496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2525B"/>
                </a:solidFill>
                <a:latin typeface="Arial"/>
              </a:rPr>
              <a:t>светло-серый — подготовка данных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949440" y="5440680"/>
            <a:ext cx="274320" cy="201168"/>
          </a:xfrm>
          <a:prstGeom prst="roundRect">
            <a:avLst>
              <a:gd name="adj" fmla="val 36363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7296912" y="539496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2525B"/>
                </a:solidFill>
                <a:latin typeface="Arial"/>
              </a:rPr>
              <a:t>оранжевый — обучено нами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" y="5715000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27272A"/>
                </a:solidFill>
                <a:latin typeface="Arial"/>
              </a:rPr>
              <a:t>Обучение: </a:t>
            </a:r>
            <a:r>
              <a:rPr sz="1050" b="0" i="0">
                <a:solidFill>
                  <a:srgbClr val="27272A"/>
                </a:solidFill>
                <a:latin typeface="Arial"/>
              </a:rPr>
              <a:t>6000 роликов First Impressions V2, пять запусков и усреднение; </a:t>
            </a:r>
            <a:r>
              <a:rPr sz="1050" b="1" i="0">
                <a:solidFill>
                  <a:srgbClr val="27272A"/>
                </a:solidFill>
                <a:latin typeface="Arial"/>
              </a:rPr>
              <a:t>ансамбль с OCEAN-AI </a:t>
            </a:r>
            <a:r>
              <a:rPr sz="1050" b="0" i="0">
                <a:solidFill>
                  <a:srgbClr val="27272A"/>
                </a:solidFill>
                <a:latin typeface="Arial"/>
              </a:rPr>
              <a:t>точнее любой из двух систем по отдельности.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C2410C"/>
                </a:solidFill>
                <a:latin typeface="Arial"/>
              </a:rPr>
              <a:t>Почему не всё с нуля: </a:t>
            </a:r>
            <a:r>
              <a:rPr sz="1050" b="0" i="0">
                <a:solidFill>
                  <a:srgbClr val="27272A"/>
                </a:solidFill>
                <a:latin typeface="Arial"/>
              </a:rPr>
              <a:t>обучить собственные кодировщики лица, голоса и текста можно, но для этого нужны десятки тысяч размеченных роликов. Открытых размеченных данных хватает только на слияние — его мы и обучили.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71717A"/>
                </a:solidFill>
                <a:latin typeface="Arial"/>
              </a:rPr>
              <a:t>BS 2.0 · анализ человека по видео · © 2026 AMLAI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27272A"/>
                </a:solidFill>
                <a:latin typeface="Arial"/>
              </a:rPr>
              <a:t>Конвейер сегодня: от ролика до отчёта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2525B"/>
                </a:solidFill>
                <a:latin typeface="Arial"/>
              </a:rPr>
              <a:t>Один проход по ролику даёт оценку личности, эмоции, голос, мимику и манеру речи на общей оси времени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651760"/>
            <a:ext cx="1463040" cy="1188720"/>
          </a:xfrm>
          <a:prstGeom prst="roundRect">
            <a:avLst>
              <a:gd name="adj" fmla="val 6153"/>
            </a:avLst>
          </a:prstGeom>
          <a:solidFill>
            <a:srgbClr val="272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21792" y="2651760"/>
            <a:ext cx="1316736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Ролик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D4D4D8"/>
                </a:solidFill>
                <a:latin typeface="Arial"/>
              </a:rPr>
              <a:t>любой длины, речь русская или английская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3246120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286000" y="2651760"/>
            <a:ext cx="1737360" cy="1188720"/>
          </a:xfrm>
          <a:prstGeom prst="roundRect">
            <a:avLst>
              <a:gd name="adj" fmla="val 6153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359152" y="2651760"/>
            <a:ext cx="1591056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7272A"/>
                </a:solidFill>
                <a:latin typeface="Arial"/>
              </a:rPr>
              <a:t>Отрезки по 20 с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весь ролик без пропусков; Whisper распознаёт речь с метками времени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554480"/>
            <a:ext cx="3566160" cy="749808"/>
          </a:xfrm>
          <a:prstGeom prst="roundRect">
            <a:avLst>
              <a:gd name="adj" fmla="val 9756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581144" y="1673352"/>
            <a:ext cx="146304" cy="146304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818888" y="1600200"/>
            <a:ext cx="30632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27272A"/>
                </a:solidFill>
                <a:latin typeface="Arial"/>
              </a:rPr>
              <a:t>Big Five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1144" y="1883664"/>
            <a:ext cx="3291840" cy="3840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OCEAN-AI (лицо 5 кадров в секунду, голос, текст) + своя модель: основная оценка и второе мнение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4023360" y="1929384"/>
            <a:ext cx="411480" cy="1316736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434840" y="2423160"/>
            <a:ext cx="3566160" cy="749808"/>
          </a:xfrm>
          <a:prstGeom prst="roundRect">
            <a:avLst>
              <a:gd name="adj" fmla="val 9756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4581144" y="2542032"/>
            <a:ext cx="146304" cy="146304"/>
          </a:xfrm>
          <a:prstGeom prst="ellipse">
            <a:avLst/>
          </a:prstGeom>
          <a:solidFill>
            <a:srgbClr val="7E2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818888" y="2468879"/>
            <a:ext cx="30632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27272A"/>
                </a:solidFill>
                <a:latin typeface="Arial"/>
              </a:rPr>
              <a:t>Эмоции по смыслу речи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2752344"/>
            <a:ext cx="3291840" cy="3840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EmoRoBERTa — семь эмоций по транскрипту каждого отрезка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4023360" y="2798064"/>
            <a:ext cx="411480" cy="448056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434840" y="3291839"/>
            <a:ext cx="3566160" cy="749808"/>
          </a:xfrm>
          <a:prstGeom prst="roundRect">
            <a:avLst>
              <a:gd name="adj" fmla="val 9756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4581144" y="3410711"/>
            <a:ext cx="146304" cy="14630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818888" y="3337559"/>
            <a:ext cx="30632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27272A"/>
                </a:solidFill>
                <a:latin typeface="Arial"/>
              </a:rPr>
              <a:t>Голос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1144" y="3621023"/>
            <a:ext cx="3291840" cy="3840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wav2vec2 (audeering) — возбуждение, уверенность, позитивность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023360" y="3246120"/>
            <a:ext cx="411480" cy="420624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434840" y="4160520"/>
            <a:ext cx="3566160" cy="749808"/>
          </a:xfrm>
          <a:prstGeom prst="roundRect">
            <a:avLst>
              <a:gd name="adj" fmla="val 9756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4581144" y="4279392"/>
            <a:ext cx="146304" cy="14630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818888" y="4206240"/>
            <a:ext cx="30632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27272A"/>
                </a:solidFill>
                <a:latin typeface="Arial"/>
              </a:rPr>
              <a:t>Мимика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81144" y="4489704"/>
            <a:ext cx="3291840" cy="3840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выражения лица (7 классов) по кадрам + движение головы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23360" y="3246120"/>
            <a:ext cx="411480" cy="1289304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434840" y="5029200"/>
            <a:ext cx="3566160" cy="749808"/>
          </a:xfrm>
          <a:prstGeom prst="roundRect">
            <a:avLst>
              <a:gd name="adj" fmla="val 9756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4581144" y="5148072"/>
            <a:ext cx="146304" cy="146304"/>
          </a:xfrm>
          <a:prstGeom prst="ellipse">
            <a:avLst/>
          </a:prstGeom>
          <a:solidFill>
            <a:srgbClr val="A162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818888" y="5074920"/>
            <a:ext cx="30632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27272A"/>
                </a:solidFill>
                <a:latin typeface="Arial"/>
              </a:rPr>
              <a:t>Манера речи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81144" y="5358384"/>
            <a:ext cx="3291840" cy="3840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темп, паузы, слова-заполнители, длина фразы, словарь — по транскрипту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023360" y="3246120"/>
            <a:ext cx="411480" cy="2157984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1554480"/>
            <a:ext cx="3200400" cy="1143000"/>
          </a:xfrm>
          <a:prstGeom prst="roundRect">
            <a:avLst>
              <a:gd name="adj" fmla="val 640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485632" y="1554480"/>
            <a:ext cx="3054096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7272A"/>
                </a:solidFill>
                <a:latin typeface="Arial"/>
              </a:rPr>
              <a:t>Объяснения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ключевые кадры, вклад каждой модальности, слова, повлиявшие на оценку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0" y="2880360"/>
            <a:ext cx="3200400" cy="1143000"/>
          </a:xfrm>
          <a:prstGeom prst="roundRect">
            <a:avLst>
              <a:gd name="adj" fmla="val 640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485632" y="2880360"/>
            <a:ext cx="3054096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7272A"/>
                </a:solidFill>
                <a:latin typeface="Arial"/>
              </a:rPr>
              <a:t>Понятный русский текст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краткие выводы из чисел; описания и транскрипт переводит локальная языковая модель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12480" y="4206240"/>
            <a:ext cx="3200400" cy="1554480"/>
          </a:xfrm>
          <a:prstGeom prst="roundRect">
            <a:avLst>
              <a:gd name="adj" fmla="val 4705"/>
            </a:avLst>
          </a:prstGeom>
          <a:solidFill>
            <a:srgbClr val="272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485632" y="4206240"/>
            <a:ext cx="3054096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Страница и печатный отчёт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D4D4D8"/>
                </a:solidFill>
                <a:latin typeface="Arial"/>
              </a:rPr>
              <a:t>графики по ходу ролика, тепловая карта эмоций, профиль Big Five, второе мнение, PDF на 7 страниц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001000" y="1929384"/>
            <a:ext cx="274320" cy="0"/>
          </a:xfrm>
          <a:prstGeom prst="line">
            <a:avLst/>
          </a:prstGeom>
          <a:ln w="19050">
            <a:solidFill>
              <a:srgbClr val="717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001000" y="2798064"/>
            <a:ext cx="274320" cy="0"/>
          </a:xfrm>
          <a:prstGeom prst="line">
            <a:avLst/>
          </a:prstGeom>
          <a:ln w="19050">
            <a:solidFill>
              <a:srgbClr val="717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001000" y="3666744"/>
            <a:ext cx="274320" cy="0"/>
          </a:xfrm>
          <a:prstGeom prst="line">
            <a:avLst/>
          </a:prstGeom>
          <a:ln w="19050">
            <a:solidFill>
              <a:srgbClr val="717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001000" y="4535424"/>
            <a:ext cx="274320" cy="0"/>
          </a:xfrm>
          <a:prstGeom prst="line">
            <a:avLst/>
          </a:prstGeom>
          <a:ln w="19050">
            <a:solidFill>
              <a:srgbClr val="717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8001000" y="5404104"/>
            <a:ext cx="274320" cy="0"/>
          </a:xfrm>
          <a:prstGeom prst="line">
            <a:avLst/>
          </a:prstGeom>
          <a:ln w="19050">
            <a:solidFill>
              <a:srgbClr val="717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8275320" y="1929384"/>
            <a:ext cx="0" cy="3474720"/>
          </a:xfrm>
          <a:prstGeom prst="line">
            <a:avLst/>
          </a:prstGeom>
          <a:ln w="19050">
            <a:solidFill>
              <a:srgbClr val="717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8275320" y="2121408"/>
            <a:ext cx="13716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8275320" y="3447288"/>
            <a:ext cx="13716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8275320" y="4983480"/>
            <a:ext cx="13716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012680" y="2697480"/>
            <a:ext cx="0" cy="18288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012680" y="4023360"/>
            <a:ext cx="0" cy="18288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48640" y="5989320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27272A"/>
                </a:solidFill>
                <a:latin typeface="Arial"/>
              </a:rPr>
              <a:t>Всё локально: </a:t>
            </a:r>
            <a:r>
              <a:rPr sz="1150" b="0" i="0">
                <a:solidFill>
                  <a:srgbClr val="27272A"/>
                </a:solidFill>
                <a:latin typeface="Arial"/>
              </a:rPr>
              <a:t>одна видеокарта, никакие данные не покидают компьютер. Обработка занимает примерно столько же, сколько длится ролик.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71717A"/>
                </a:solidFill>
                <a:latin typeface="Arial"/>
              </a:rPr>
              <a:t>BS 2.0 · анализ человека по видео · © 2026 AMLAI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27272A"/>
                </a:solidFill>
                <a:latin typeface="Arial"/>
              </a:rPr>
              <a:t>Что получилось к сегодняшнему дню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2525B"/>
                </a:solidFill>
                <a:latin typeface="Arial"/>
              </a:rPr>
              <a:t>Рабочая система с проверенной точностью и понятным отчётом на русском языке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2514600" cy="1508760"/>
          </a:xfrm>
          <a:prstGeom prst="roundRect">
            <a:avLst>
              <a:gd name="adj" fmla="val 4848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31520" y="1618488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C2410C"/>
                </a:solidFill>
                <a:latin typeface="Arial"/>
              </a:rPr>
              <a:t>0.927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317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52525B"/>
                </a:solidFill>
                <a:latin typeface="Arial"/>
              </a:rPr>
              <a:t>точность ансамбля (1 − ошибка) на тестовой части
First Impressions V2; в статье — 0.918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1508760"/>
            <a:ext cx="2514600" cy="1508760"/>
          </a:xfrm>
          <a:prstGeom prst="roundRect">
            <a:avLst>
              <a:gd name="adj" fmla="val 4848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429000" y="1618488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C2410C"/>
                </a:solidFill>
                <a:latin typeface="Arial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23317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52525B"/>
                </a:solidFill>
                <a:latin typeface="Arial"/>
              </a:rPr>
              <a:t>русских роликов обработано целиком,
создана опорная группа для сравнения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00400"/>
            <a:ext cx="2514600" cy="1508760"/>
          </a:xfrm>
          <a:prstGeom prst="roundRect">
            <a:avLst>
              <a:gd name="adj" fmla="val 4848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31520" y="3310128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C2410C"/>
                </a:solidFill>
                <a:latin typeface="Arial"/>
              </a:rPr>
              <a:t>5 + 4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02336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52525B"/>
                </a:solidFill>
                <a:latin typeface="Arial"/>
              </a:rPr>
              <a:t>черт Big Five и дополнительных
измерений: эмоции, голос, мимика, речь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3200400"/>
            <a:ext cx="2514600" cy="1508760"/>
          </a:xfrm>
          <a:prstGeom prst="roundRect">
            <a:avLst>
              <a:gd name="adj" fmla="val 4848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29000" y="3310128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C2410C"/>
                </a:solidFill>
                <a:latin typeface="Arial"/>
              </a:rPr>
              <a:t>≈ 1×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402336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52525B"/>
                </a:solidFill>
                <a:latin typeface="Arial"/>
              </a:rPr>
              <a:t>время обработки к длине ролика:
шестиминутный ролик — около 7 минут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5943600" y="1417320"/>
          <a:ext cx="566928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035040" y="4453128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Ось начинается с 0.5, чтобы различия были видны: все четыре системы близки между собой.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8463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27272A"/>
                </a:solidFill>
                <a:latin typeface="Arial"/>
              </a:rPr>
              <a:t>Что человек получает по каждому ролику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21208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658368" y="5321808"/>
            <a:ext cx="109728" cy="109728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41247" y="526694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27272A"/>
                </a:solidFill>
                <a:latin typeface="Arial"/>
              </a:rPr>
              <a:t>Профиль Big Five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596128"/>
            <a:ext cx="1517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оценка и второе мнение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14016" y="521208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2523744" y="5321808"/>
            <a:ext cx="109728" cy="109728"/>
          </a:xfrm>
          <a:prstGeom prst="ellipse">
            <a:avLst/>
          </a:prstGeom>
          <a:solidFill>
            <a:srgbClr val="7E2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706624" y="526694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27272A"/>
                </a:solidFill>
                <a:latin typeface="Arial"/>
              </a:rPr>
              <a:t>Эмоции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23744" y="5596128"/>
            <a:ext cx="1517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по речи и по лицу, по ходу ролика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79392" y="521208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4389120" y="5321808"/>
            <a:ext cx="109728" cy="109728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572000" y="526694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27272A"/>
                </a:solidFill>
                <a:latin typeface="Arial"/>
              </a:rPr>
              <a:t>Голос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5596128"/>
            <a:ext cx="1517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возбуждение, уверенность, позитивность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44768" y="521208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6254496" y="532180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437376" y="526694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27272A"/>
                </a:solidFill>
                <a:latin typeface="Arial"/>
              </a:rPr>
              <a:t>Мимика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54496" y="5596128"/>
            <a:ext cx="1517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выражения лица, движение головы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10144" y="521208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8119871" y="5321808"/>
            <a:ext cx="109728" cy="109728"/>
          </a:xfrm>
          <a:prstGeom prst="ellipse">
            <a:avLst/>
          </a:prstGeom>
          <a:solidFill>
            <a:srgbClr val="A162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302752" y="526694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27272A"/>
                </a:solidFill>
                <a:latin typeface="Arial"/>
              </a:rPr>
              <a:t>Манера речи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19871" y="5596128"/>
            <a:ext cx="1517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темп, паузы, частые слова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875519" y="521208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9985247" y="5321808"/>
            <a:ext cx="109728" cy="109728"/>
          </a:xfrm>
          <a:prstGeom prst="ellipse">
            <a:avLst/>
          </a:prstGeom>
          <a:solidFill>
            <a:srgbClr val="272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10168128" y="526694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27272A"/>
                </a:solidFill>
                <a:latin typeface="Arial"/>
              </a:rPr>
              <a:t>Объяснения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85247" y="5596128"/>
            <a:ext cx="1517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кадры, вклад модальностей, слова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71717A"/>
                </a:solidFill>
                <a:latin typeface="Arial"/>
              </a:rPr>
              <a:t>BS 2.0 · анализ человека по видео · © 2026 AMLAI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2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Arial"/>
              </a:rPr>
              <a:t>Что нужно от заказчика и коллег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D4D4D8"/>
                </a:solidFill>
                <a:latin typeface="Arial"/>
              </a:rPr>
              <a:t>Девяти роликов от коллег хватило, чтобы запустить систему, но не чтобы сверить её с мнением людей и настроить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3520440" cy="3657600"/>
          </a:xfrm>
          <a:prstGeom prst="roundRect">
            <a:avLst>
              <a:gd name="adj" fmla="val 2077"/>
            </a:avLst>
          </a:prstGeom>
          <a:solidFill>
            <a:srgbClr val="3F3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31520" y="1755648"/>
            <a:ext cx="365760" cy="36576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7" y="1737360"/>
            <a:ext cx="2697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Ролики и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331720"/>
            <a:ext cx="3118104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EA58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E4E4E7"/>
                </a:solidFill>
                <a:latin typeface="Arial"/>
              </a:rPr>
              <a:t>Коллеги записывают ещё: человек говорит в камеру, лицо крупно, русская речь, 3–10 минут, разные люди и условия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EA58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E4E4E7"/>
                </a:solidFill>
                <a:latin typeface="Arial"/>
              </a:rPr>
              <a:t>30 роликов — сравнение систем; 100 — калибровка шкалы; от 300 — дообучение на русском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EA58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E4E4E7"/>
                </a:solidFill>
                <a:latin typeface="Arial"/>
              </a:rPr>
              <a:t>Согласие участников на обработку и хранение видео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EA58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E4E4E7"/>
                </a:solidFill>
                <a:latin typeface="Arial"/>
              </a:rPr>
              <a:t>Письмо авторам: корпус MuPTA (русская речь, выдаётся по запросу) и веса SSL-MEPR для лица и тела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554480"/>
            <a:ext cx="3520440" cy="3657600"/>
          </a:xfrm>
          <a:prstGeom prst="roundRect">
            <a:avLst>
              <a:gd name="adj" fmla="val 2077"/>
            </a:avLst>
          </a:prstGeom>
          <a:solidFill>
            <a:srgbClr val="3F3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4498848" y="1755648"/>
            <a:ext cx="365760" cy="36576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74336" y="1737360"/>
            <a:ext cx="2697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Оценки живых людей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7136" y="2331720"/>
            <a:ext cx="3118104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EA58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E4E4E7"/>
                </a:solidFill>
                <a:latin typeface="Arial"/>
              </a:rPr>
              <a:t>Каждый ролик смотрят не меньше трёх коллег, не знакомых с человеком в кадре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EA58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E4E4E7"/>
                </a:solidFill>
                <a:latin typeface="Arial"/>
              </a:rPr>
              <a:t>Пять черт по шкале 1–7: «каким этот человек кажется», плюс «пригласил бы на собеседование»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EA58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E4E4E7"/>
                </a:solidFill>
                <a:latin typeface="Arial"/>
              </a:rPr>
              <a:t>Одна короткая инструкция для всех, оценки не обсуждаются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EA58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E4E4E7"/>
                </a:solidFill>
                <a:latin typeface="Arial"/>
              </a:rPr>
              <a:t>Мы делаем таблицу разметки и считаем согласие оценщиков между собой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83296" y="1554480"/>
            <a:ext cx="3520440" cy="3657600"/>
          </a:xfrm>
          <a:prstGeom prst="roundRect">
            <a:avLst>
              <a:gd name="adj" fmla="val 2077"/>
            </a:avLst>
          </a:prstGeom>
          <a:solidFill>
            <a:srgbClr val="3F3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8266175" y="1755648"/>
            <a:ext cx="365760" cy="36576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41664" y="1737360"/>
            <a:ext cx="2697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Разметка профайлера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4" y="2331720"/>
            <a:ext cx="3118104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EA58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E4E4E7"/>
                </a:solidFill>
                <a:latin typeface="Arial"/>
              </a:rPr>
              <a:t>Время начала и конца каждого эпизода (не скриншоты) — в программе разметки или в таблице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EA58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E4E4E7"/>
                </a:solidFill>
                <a:latin typeface="Arial"/>
              </a:rPr>
              <a:t>Размечен весь ролик или заданные отрезки, включая отметки «ничего заметного»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EA58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E4E4E7"/>
                </a:solidFill>
                <a:latin typeface="Arial"/>
              </a:rPr>
              <a:t>Определения паттернов («влево» — с точки зрения говорящего или зрителя), сила эпизода 1–3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EA58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E4E4E7"/>
                </a:solidFill>
                <a:latin typeface="Arial"/>
              </a:rPr>
              <a:t>Второй разметчик на 20–30 % материала; ориентир — 30 эпизодов на паттерн у 10 человек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440680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1" i="0">
                <a:solidFill>
                  <a:srgbClr val="EA580C"/>
                </a:solidFill>
                <a:latin typeface="Arial"/>
              </a:rPr>
              <a:t>Что это даст: </a:t>
            </a:r>
            <a:r>
              <a:rPr sz="1100" b="0" i="0">
                <a:solidFill>
                  <a:srgbClr val="FFFFFF"/>
                </a:solidFill>
                <a:latin typeface="Arial"/>
              </a:rPr>
              <a:t>измерить точность на русскоязычных роликах и выбрать шкалу, откалибровать оценки под мнение людей, проверить эмоции, голос и мимику, настроить поиск поведенческих паттернов.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1" i="0">
                <a:solidFill>
                  <a:srgbClr val="EA580C"/>
                </a:solidFill>
                <a:latin typeface="Arial"/>
              </a:rPr>
              <a:t>Своя модель для русской речи </a:t>
            </a:r>
            <a:r>
              <a:rPr sz="1100" b="0" i="0">
                <a:solidFill>
                  <a:srgbClr val="FFFFFF"/>
                </a:solidFill>
                <a:latin typeface="Arial"/>
              </a:rPr>
              <a:t>возможна, но только на большом числе размеченных роликов: от 300 — дообучение, тысячи — обучение с нуля. Поэтому данные и разметка сейчас важнее любого нового кода.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71717A"/>
                </a:solidFill>
                <a:latin typeface="Arial"/>
              </a:rPr>
              <a:t>BS 2.0 · анализ человека по видео · © 2026 AMLAI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