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всего продукта слева направо. 1) Видео: человек говорит в камеру, русская речь; ролик загружают на веб-странице. 2) Подготовка: ролик длиннее 30 секунд режется на отрезки по 20 секунд (ffmpeg); Whisper large-v3-turbo один раз распознаёт всю речь с метками времени, и каждый отрезок получает свой текст. 3–4) Дальше на каждом отрезке идут две ветки. Оценка личности по Big Five — моделью, которую выбрал пользователь: AMLAI 1.0 (по умолчанию) или OCEAN-AI с весами MuPTA. Параллельно — анализ поведения: эмоции по смыслу речи (7 эмоций), выражение лица (7 классов) и движение головы, голос (возбуждение, уверенность, позитивность), темп речи, паузы и слова-заполнители. 5) Сведение: средние по ролику с учётом длины отрезков, разброс и линия времени; из Big Five выводится тип MBTI (экспериментальная гипотеза, не измерение); по числам строится характеристика личности простыми словами. 6) Результат: веб-страница с 8 вкладками, PDF-отчёт с графиками, файл result.json со всеми числами и запись в журнале запусков. Всё работает на одном компьютере с одной видеокартой, данные никуда не уходят.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Наша модель AMLAI 1.0 смотрит на каждый отрезок четырьмя способами. Лицо: 30 кадров, MediaPipe находит и вырезает лицо, CLIP ViT-B/32 превращает его в числа. Голос: звук отрезка целиком через CLAP. Речь: текст от Whisper; модель обучена на английском, поэтому русская речь переводится на английский (Marian opus-mt), текст читает EmoRoBERTa. Поведение: локальная языковая модель Qwen2.5-VL (через Ollama) смотрит на 16 кадров и пишет, что делает человек; это описание тоже читает EmoRoBERTa. Синие блоки — готовые открытые модели, мы их не меняли. Оранжевый блок — наша обученная часть: признаки сжимаются по времени (среднее и разброс), графовое внимание связывает модальности между собой, перекрёстное внимание и банк прототипов дают итог. Обучено на 6000 роликах First Impressions V2; работают пять обученных копий, их оценки усредняются. На выходе шесть чисел от 0 до 1: пять черт и «пригласил бы на собеседование». Точность на тестовых роликах First Impressions V2: средняя ошибка 0,08 по шкале 0…1 (mACC 0,920, CCC 0,715). Объяснения есть только у AMLAI 1.0: вклад каждой модальности, ключевые кадры с короткой подписью и знаком влияния, слова, на которые откликнулась модель. Вторая модель на выбор — OCEAN-AI с весами MuPTA (обучена на русской речи): аудио, видео и текст со своим слиянием, объяснений не даёт.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обучали нашу модель AMLAI 1.0. Данные — First Impressions V2: 10 000 англоязычных роликов по 15 секунд, каждый заранее оценён наблюдателями по пяти чертам. Набор заранее разбит составителями на три части: 6000 роликов на обучение, 2000 на проверку, 1997 на тест (3 ролика выпали). Кодировщики лица, голоса и текста брали готовыми и не дообучали — обучали только слияние. Рецепт (из статьи MM-PSYCHE): агрегация по времени среднее‖разброс, скрытый размер 512, 8 голов внимания, dropout 0.15, функция потерь MAE, оптимизатор Adam с шагом 1e-4, батч 32, до 100 эпох с ранней остановкой на 15 эпохах без улучшения; итог — ансамбль из пяти запусков с разными случайными весами. Ход обучения: признаки посчитали один раз (~48 минут, модели не менялись); слияние учили на 6000 роликах; лучшую эпоху выбирали по проверочным 2000; делали пять запусков и усредняли; тест прогоняли один раз на 1997 роликах, которых модель не видела, и на тесте ничего не подбирали. Что поднимало согласованность с оценками людей (CCC): основа — лицо через CLIP; голос, текст и описание поведения вместе добавляли около 0.014; пять запусков — ещё около 0.010; самый большой шаг — усреднение с системой OCEAN-AI, +0.018 (проверено бутстрепом: ансамбль лучше OCEAN-AI во всех 5000 пересборках теста, прирост CCC 0.031, интервал 0.024–0.037). Итог на тесте: mACC (1 − средняя ошибка) 0.920 и CCC 0.715; в статье MM-PSYCHE 0.918 и 0.740; ансамбль AMLAI 1.0 с OCEAN-AI — 0.927 и 0.733. Важно: разметка набора — это впечатление наблюдателей, а не результат теста личности, поэтому модель предсказывает первое впечатление. Что значат метрики и откуда разметка —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Важная оговорка: система оценивает первое впечатление, а не точный профиль личности. Модель предсказывает, каким человек покажется незнакомым людям по короткому ролику, — по лицу, голосу, речи и манере держаться. Это не результат психологического теста и не то, как человек оценивает себя сам. Модель обучена на англоязычных роликах; на русской речи её точность пока не измерена. Поэтому результат — ориентир для разговора, а не диагноз. Откуда разметка: набор First Impressions V2, созданный для конкурсов ChaLearn в 2016–2017 годах, — 10 000 роликов по 15 секунд, англоязычные блогеры с YouTube говорят в камеру. Оценки ставили наблюдатели на Amazon Mechanical Turk: им показывали два ролика и спрашивали, кто из двоих кажется, например, более общительным; из множества таких попарных сравнений составители получили для каждого ролика оценки от 0 до 1 по пяти чертам Big Five и по вопросу «пригласил бы на собеседование». Тестов личности и самооценок участников в наборе нет — модель учится повторять впечатление наблюдателей. Что значат числа. 0,920 — это mACC, средняя точность: единица минус средняя абсолютная ошибка; модель отличается от оценки наблюдателей в среднем на 0,08 по шкале от 0 до 1. 0,715 — это CCC, коэффициент согласованности Лина: он показывает, насколько оценки модели совпадают с оценками людей и по порядку (кто выше, кто ниже), и по уровню; 1 — полное совпадение, 0 — никакой связи. Обе метрики — среднее по пяти чертам на 1997 тестовых роликах, которых модель не видела. Почему главная метрика — CCC: оценки в наборе собраны около середины шкалы, поэтому даже если всем ставить одно среднее значение, mACC получается около 0,88 (мы проверили на тестовой разметке), а CCC при этом равен нулю. Для сравнения: в статье MM-PSYCHE — 0,918 и 0,740, наш ансамбль с OCEAN-AI — 0,927 и 0,733.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верх настоящей страницы результата (снимок экрана). Слева — загрузка видео, выбор модели (AMLAI 1.0 стоит по умолчанию) и кнопки «Анализировать» и «Остановить обработку». Справа — характеристика личности: тип MBTI крупно, затем «Коротко» и «Основа описания» простыми словами. Ниже — ключевые факты: сначала значение, под ним подпись. Цвет значения говорит, где оно лежит: зелёный — около нейтрального, синий — ниже, оранжевый — выше; то же сказано словом в подписи. Кнопка «Экспорт в PDF» собирает печатный отчёт. Под этим блоком — восемь вкладок: Обзор, Тип MBTI, Таймлайн, Эмоции и голос, Речь, Мимика и кадры, Объяснения, Данные. Пример — ролик длиной 10 минут, разбитый на 31 отрезок, модель AMLAI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Снимки вкладки «Таймлайн» того же десятиминутного ролика. Верхний график — оценки пяти черт Big Five и «пригласить на собеседование» по каждому 20-секундному отрезку: линии почти ровные, значит, впечатление устойчиво по всему ролику. Серая полоса — отрезок, выбранный для объяснений и ключевых кадров. Нижние графики — голос (возбуждение, уверенность, позитивность, шкала от 0 до 1) и речь (темп в словах в минуту столбиками и доля пауз линией). На той же вкладке есть ещё график эмоций по речи и по лицу. На странице все графики интерактивные: при наведении показываются время отрезка и значения.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Важная оговорка: MBTI в системе — экспериментальная гипотеза. Тип не измеряется напрямую: модель на MBTI не обучалась и на MBTI-разметке не проверялась, а связь шкал Big Five и MBTI неполная. К тому же сами оценки Big Five — это первое впечатление наблюдателей, а не тест личности. Поэтому тип MBTI — дополнительная подсказка для разговора, а не вывод. Как он считается: тип MBTI выводится из оценок Big Five по формуле заказчика. Четыре шкалы MBTI берутся из четырёх черт: экстраверсия даёт E или I, открытость опыту — N или S, доброжелательность — F или T, добросовестность — J или P. Порог 0,5: выше — правый полюс, ниже — левый. Если оценка ближе 0,15 к порогу, то есть в зоне 0,35–0,65, полюс не определён и в типе ставится «X». Уверенность буквы растёт с расстоянием от порога. Связь шкал (r) взята из исследований соответствия Big Five и MBTI: для E/I и S/N она высокая, для T/F и J/P средняя, поэтому последние две буквы надо читать осторожнее. Эмоциональная стабильность в MBTI не входит — о ней говорит характеристика личности. Тип считается и для каждого отрезка, поэтому видно, насколько он устойчив по ходу ролика. Внизу — что получает пользователь: веб-страница с восемью вкладками, PDF-отчёт с графиками, файл result.json со всеми числами и запись в журнале: кто и когда запускал анализ и какой получился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вкладка «Тип MBTI» (тип — экспериментальная гипотеза: он выводится из Big Five по формуле, а не измеряется): точка на каждой из четырёх осей показывает оценку, серая середина — пограничная зона. Здесь три оси из четырёх на границе, поэтому тип записан как IXXX. Нейротизм показан отдельной шкалой, потому что в MBTI его нет. Ниже — тип по каждому 20-секундному отрезку: видно, какие буквы устойчивы, а какие меняются по ходу ролика. Справа — вкладка «Объяснения»: какая доля оценки каждой черты пришлась на лицо, голос, речь и описание поведения. У этой записи модель опирается в основном на лицо и голос. На той же вкладке — слова, на которые откликнулась модель, и описание поведения по отрезкам. Объяснения есть только у AMLAI 1.0; у OCEAN-AI на их месте короткая пометка.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стек сверху вниз. Интерфейс: веб-страница на Gradio 5.8, интерактивные графики Plotly, PDF-отчёт через fpdf2 с графиками matplotlib; для публикации в интернете — Caddy с HTTPS и паролем. Интерпретация: тип MBTI по формуле заказчика, характеристика личности по шаблонам и русскому словарю, ключевые факты с цветом и оговорки. Модели: наша AMLAI 1.0 и OCEAN-AI с весами MuPTA для оценки личности; CLIP, CLAP и EmoRoBERTa — кодировщики лица, голоса и текста; wav2vec2 от audeering — возбуждение, уверенность и позитивность голоса; ViT — выражение лица; Whisper large-v3-turbo — речь в текст; Qwen2.5-VL через Ollama — описание поведения по кадрам; Marian — перевод. Медиа: ffmpeg и ffprobe режут и читают видео, OpenCV и MediaPipe находят лицо. Платформа: Python 3.12, PyTorch с CUDA 13, WSL2 с Ubuntu 24.04, одна видеокарта RTX 5090 на 24 ГБ. Справа — подходы: несколько модальностей в одной модели; анализ по отрезкам с линией времени; ансамбль из пяти копий; объяснения каждой оценки; тексты по шаблонам, поэтому одинаковые числа всегда дают одинаковую характеристику; всё локально — сервер отдаёт только то, что показано на странице, и не даёт скачать чужие файлы.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для развития — не код, а свой размеченный датасет на русском языке. Сейчас модели обучены на чужих данных: AMLAI 1.0 — на англоязычных 15-секундных роликах, OCEAN-AI — на корпусе MuPTA. Проверить точность на наших русскоязычных роликах сейчас не на чем. Что нужно: снять минимум 300–400 роликов, а лучше больше. Каждый до 10 минут, человек говорит в камеру, русская речь, лицо крупно, есть письменное согласие на обработку и хранение видео. У каждого ролика две разметки. Первая — самооценка: человек сам заполняет стандартный опросник личности по инструкции (например, BFI-2, 60 вопросов). Вторая — оценки наблюдателей: люди, которые не знают этого человека, смотрят ролики попарно и по каждой черте выбирают, кто из двоих кажется, например, общительнее; из множества таких сравнений получается оценка от 0 до 1. Так размечен First Impressions V2, на котором обучена наша модель: 10 000 роликов по 15 секунд, наблюдатели на Amazon Mechanical Turk сравнивали пары роликов по пяти чертам и по вопросу «пригласил бы на собеседование». Ориентиры по объёму: около 30 роликов — сравнить системы, около 100 — откалибровать шкалу, от 300 — дообучить модель. Что это даст: измеренную точность на русской речи, шкалу, согласованную с оценками людей, и модель, дообученную на своих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разрешают авторы моделей и данных (не юридическая консультация; при коммерческом использовании условия проверяются у правообладателей). Код OCEAN-AI — под лицензией BSD-3-Clause: можно использовать, изменять и распространять, в том числе в коммерческом продукте, сохраняя копирайт и текст лицензии. Данные First Impressions V2, на которых обучена наша модель AMLAI 1.0, — под CC BY-NC 4.0: можно использовать, изменять и делиться с указанием авторства, но только некоммерчески. Русский корпус MuPTA, на котором обучены веса OCEAN-AI для русской речи, выдаётся авторами по запросу только для исследований — некоммерческое научное использование. Готовые кодировщики признаков свободные: CLIP и Whisper — MIT; CLAP, Qwen2.5-VL, ViT-выражения и MediaPipe — Apache-2.0 (в том числе коммерчески); при этом модель голоса wav2vec2 (audeering) — CC BY-NC-SA 4.0 и openSMILE — некоммерческие, EmoRoBERTa — без явной лицензии, перевод opus-mt — CC BY 4.0. Итог: сам код свободный, но оценки Big Five получены весами, обученными на некоммерческих данных, и часть моделей тоже некоммерческие, поэтому продавать продукт на этих весах нельзя; для коммерческого использования нужен собственный размеченный датасет, обучение на котором снимает эти ограничения.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70815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42936"/>
            <a:ext cx="10566400" cy="410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70815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42936"/>
            <a:ext cx="10566400" cy="410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ОПИСАНИЕ ПРОДУКТА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Как работает система: от ролика до отчёта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96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Один проход по ролику: все измерения на общей оси времени, всё считается локально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053498"/>
            <a:ext cx="1447800" cy="3670300"/>
          </a:xfrm>
          <a:prstGeom prst="roundRect">
            <a:avLst>
              <a:gd name="adj" fmla="val 8333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pic>
        <p:nvPicPr>
          <p:cNvPr id="6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221224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300" y="2219854"/>
            <a:ext cx="672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Видео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2500" y="2529748"/>
            <a:ext cx="1231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человек говорит в камеру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52500" y="3258608"/>
            <a:ext cx="1231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русская речь, любая длина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2500" y="3774149"/>
            <a:ext cx="1231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загрузка на веб-странице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30500" y="2053498"/>
            <a:ext cx="1701800" cy="3670300"/>
          </a:xfrm>
          <a:prstGeom prst="roundRect">
            <a:avLst>
              <a:gd name="adj" fmla="val 7090"/>
            </a:avLst>
          </a:prstGeom>
          <a:solidFill>
            <a:srgbClr val="ECEEF1"/>
          </a:solidFill>
          <a:ln w="12700">
            <a:solidFill>
              <a:srgbClr val="C9CFD6"/>
            </a:solidFill>
            <a:prstDash val="solid"/>
          </a:ln>
        </p:spPr>
      </p:sp>
      <p:pic>
        <p:nvPicPr>
          <p:cNvPr id="12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63850" y="221224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68650" y="2219854"/>
            <a:ext cx="1257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Подготовка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63850" y="2529748"/>
            <a:ext cx="1485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длинный ролик режется на отрезки по 20 секунд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63850" y="3258608"/>
            <a:ext cx="1485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Whisper распознаёт речь с метками времени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95850" y="2053498"/>
            <a:ext cx="2146300" cy="1701800"/>
          </a:xfrm>
          <a:prstGeom prst="roundRect">
            <a:avLst>
              <a:gd name="adj" fmla="val 709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7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41900" y="221224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6700" y="2219854"/>
            <a:ext cx="8208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Big Five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41900" y="2517048"/>
            <a:ext cx="19098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черт на каждом отрезке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41900" y="3019888"/>
            <a:ext cx="19098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модель на выбор: AMLAI 1.0 или OCEAN-AI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895850" y="4021998"/>
            <a:ext cx="2146300" cy="1701800"/>
          </a:xfrm>
          <a:prstGeom prst="roundRect">
            <a:avLst>
              <a:gd name="adj" fmla="val 7090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2" name="Image 3" descr="Activit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41900" y="418074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6700" y="4188354"/>
            <a:ext cx="11925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Поведение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041900" y="4485548"/>
            <a:ext cx="190982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эмоции по смыслу речи, выражение лица, голос, темп и паузы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505700" y="2053498"/>
            <a:ext cx="1701800" cy="3670300"/>
          </a:xfrm>
          <a:prstGeom prst="roundRect">
            <a:avLst>
              <a:gd name="adj" fmla="val 709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pic>
        <p:nvPicPr>
          <p:cNvPr id="26" name="Image 4" descr="Char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39050" y="221224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43850" y="2219854"/>
            <a:ext cx="1054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Сведение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639050" y="2529748"/>
            <a:ext cx="1485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среднее по ролику с учётом длины отрезков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639050" y="3258608"/>
            <a:ext cx="1485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разброс и линия времени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639050" y="3774149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 MBTI (гипотеза)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639050" y="4076369"/>
            <a:ext cx="1485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характеристика личности простыми словами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671050" y="2053498"/>
            <a:ext cx="1701800" cy="3670300"/>
          </a:xfrm>
          <a:prstGeom prst="roundRect">
            <a:avLst>
              <a:gd name="adj" fmla="val 7090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pic>
        <p:nvPicPr>
          <p:cNvPr id="33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804400" y="221224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109200" y="2219854"/>
            <a:ext cx="11011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804400" y="2529748"/>
            <a:ext cx="1485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веб-страница с 8 вкладками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9804400" y="3045288"/>
            <a:ext cx="1485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PDF-отчёт с графиками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9804400" y="3560829"/>
            <a:ext cx="1485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result.json для других программ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9804400" y="4076369"/>
            <a:ext cx="148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журнал запусков</a:t>
            </a:r>
            <a:endParaRPr lang="en-US" sz="1200" dirty="0"/>
          </a:p>
        </p:txBody>
      </p:sp>
      <p:pic>
        <p:nvPicPr>
          <p:cNvPr id="39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222500" y="3837848"/>
            <a:ext cx="552450" cy="101600"/>
          </a:xfrm>
          <a:prstGeom prst="rect">
            <a:avLst/>
          </a:prstGeom>
        </p:spPr>
      </p:pic>
      <p:pic>
        <p:nvPicPr>
          <p:cNvPr id="40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387850" y="3837848"/>
            <a:ext cx="323850" cy="101600"/>
          </a:xfrm>
          <a:prstGeom prst="rect">
            <a:avLst/>
          </a:prstGeom>
        </p:spPr>
      </p:pic>
      <p:pic>
        <p:nvPicPr>
          <p:cNvPr id="41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610100" y="2853598"/>
            <a:ext cx="101600" cy="2070100"/>
          </a:xfrm>
          <a:prstGeom prst="rect">
            <a:avLst/>
          </a:prstGeom>
        </p:spPr>
      </p:pic>
      <p:pic>
        <p:nvPicPr>
          <p:cNvPr id="42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10100" y="2853598"/>
            <a:ext cx="330200" cy="101600"/>
          </a:xfrm>
          <a:prstGeom prst="rect">
            <a:avLst/>
          </a:prstGeom>
        </p:spPr>
      </p:pic>
      <p:pic>
        <p:nvPicPr>
          <p:cNvPr id="43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610100" y="4822098"/>
            <a:ext cx="330200" cy="101600"/>
          </a:xfrm>
          <a:prstGeom prst="rect">
            <a:avLst/>
          </a:prstGeom>
        </p:spPr>
      </p:pic>
      <p:pic>
        <p:nvPicPr>
          <p:cNvPr id="44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997700" y="2853598"/>
            <a:ext cx="330200" cy="101600"/>
          </a:xfrm>
          <a:prstGeom prst="rect">
            <a:avLst/>
          </a:prstGeom>
        </p:spPr>
      </p:pic>
      <p:pic>
        <p:nvPicPr>
          <p:cNvPr id="45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997700" y="4822098"/>
            <a:ext cx="330200" cy="101600"/>
          </a:xfrm>
          <a:prstGeom prst="rect">
            <a:avLst/>
          </a:prstGeom>
        </p:spPr>
      </p:pic>
      <p:pic>
        <p:nvPicPr>
          <p:cNvPr id="46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226300" y="2853598"/>
            <a:ext cx="101600" cy="2070100"/>
          </a:xfrm>
          <a:prstGeom prst="rect">
            <a:avLst/>
          </a:prstGeom>
        </p:spPr>
      </p:pic>
      <p:pic>
        <p:nvPicPr>
          <p:cNvPr id="47" name="Image 14" descr="connector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226300" y="3837848"/>
            <a:ext cx="323850" cy="101600"/>
          </a:xfrm>
          <a:prstGeom prst="rect">
            <a:avLst/>
          </a:prstGeom>
        </p:spPr>
      </p:pic>
      <p:pic>
        <p:nvPicPr>
          <p:cNvPr id="48" name="Image 15" descr="connector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163050" y="3837848"/>
            <a:ext cx="552450" cy="10160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50" name="Text 3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УСТРОЕНА МОДЕЛЬ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AMLAI 1.0: четыре взгляда на человека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96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каждом отрезке четыре потока признаков сводятся в шесть оценок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9150" y="2053498"/>
            <a:ext cx="2781300" cy="673100"/>
          </a:xfrm>
          <a:prstGeom prst="roundRect">
            <a:avLst>
              <a:gd name="adj" fmla="val 1415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  <p:txBody>
          <a:bodyPr wrap="square" lIns="105452" tIns="80052" rIns="30014" bIns="80052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Лицо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30 кадров, MediaPipe вырезает лицо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2967898"/>
            <a:ext cx="2781300" cy="673100"/>
          </a:xfrm>
          <a:prstGeom prst="roundRect">
            <a:avLst>
              <a:gd name="adj" fmla="val 1415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  <p:txBody>
          <a:bodyPr wrap="square" lIns="105452" tIns="80052" rIns="30014" bIns="80052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Голос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звук отрезка целиком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3882298"/>
            <a:ext cx="2781300" cy="673100"/>
          </a:xfrm>
          <a:prstGeom prst="roundRect">
            <a:avLst>
              <a:gd name="adj" fmla="val 1415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  <p:txBody>
          <a:bodyPr wrap="square" lIns="105452" tIns="80052" rIns="30014" bIns="80052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Речь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текст Whisper в переводе на английский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50" y="4796698"/>
            <a:ext cx="2781300" cy="673100"/>
          </a:xfrm>
          <a:prstGeom prst="roundRect">
            <a:avLst>
              <a:gd name="adj" fmla="val 1415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  <p:txBody>
          <a:bodyPr wrap="square" lIns="105452" tIns="80052" rIns="30014" bIns="80052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Поведение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Qwen2.5-VL описывает кадры словами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27500" y="2053498"/>
            <a:ext cx="1638300" cy="673100"/>
          </a:xfrm>
          <a:prstGeom prst="roundRect">
            <a:avLst>
              <a:gd name="adj" fmla="val 1415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5450" y="217037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CLIP ViT-B/32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35450" y="239639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облик лица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27500" y="2967898"/>
            <a:ext cx="1638300" cy="673100"/>
          </a:xfrm>
          <a:prstGeom prst="roundRect">
            <a:avLst>
              <a:gd name="adj" fmla="val 1415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5450" y="308477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35450" y="331079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звучание голоса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27500" y="3882298"/>
            <a:ext cx="1638300" cy="673100"/>
          </a:xfrm>
          <a:prstGeom prst="roundRect">
            <a:avLst>
              <a:gd name="adj" fmla="val 1415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5450" y="399917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EmoRoBERTa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35450" y="422519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смысл текста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27500" y="4796698"/>
            <a:ext cx="1638300" cy="673100"/>
          </a:xfrm>
          <a:prstGeom prst="roundRect">
            <a:avLst>
              <a:gd name="adj" fmla="val 1415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5450" y="491357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EmoRoBERTa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35450" y="513959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смысл описания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2850" y="2053498"/>
            <a:ext cx="2273300" cy="3416300"/>
          </a:xfrm>
          <a:prstGeom prst="roundRect">
            <a:avLst>
              <a:gd name="adj" fmla="val 5307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8900" y="2668323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Графовое слияние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38900" y="2970543"/>
            <a:ext cx="20406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признаки сжимаются по времени: среднее и разброс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38900" y="3699404"/>
            <a:ext cx="20406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графовое внимание: каждая модальность учитывает остальные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8900" y="4428265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перекрёстное внимание и банк прототипов пяти черт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99550" y="2053498"/>
            <a:ext cx="2273300" cy="1600200"/>
          </a:xfrm>
          <a:prstGeom prst="roundRect">
            <a:avLst>
              <a:gd name="adj" fmla="val 7540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45600" y="2244064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Шесть оценок 0…1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45600" y="2533584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черт Big Five и «собеседование»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45600" y="3036425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среднее пяти обученных копий модели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99550" y="3869598"/>
            <a:ext cx="2273300" cy="1600200"/>
          </a:xfrm>
          <a:prstGeom prst="roundRect">
            <a:avLst>
              <a:gd name="adj" fmla="val 7540"/>
            </a:avLst>
          </a:prstGeom>
          <a:solidFill>
            <a:srgbClr val="FBFBFA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45600" y="4204957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Объяснения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45600" y="4494478"/>
            <a:ext cx="20406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вклад модальностей, ключевые кадры с подписью, важные слова</a:t>
            </a:r>
            <a:endParaRPr lang="en-US" sz="1200" dirty="0"/>
          </a:p>
        </p:txBody>
      </p:sp>
      <p:pic>
        <p:nvPicPr>
          <p:cNvPr id="33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56000" y="2339248"/>
            <a:ext cx="615950" cy="101600"/>
          </a:xfrm>
          <a:prstGeom prst="rect">
            <a:avLst/>
          </a:prstGeom>
        </p:spPr>
      </p:pic>
      <p:pic>
        <p:nvPicPr>
          <p:cNvPr id="3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56000" y="3253648"/>
            <a:ext cx="615950" cy="101600"/>
          </a:xfrm>
          <a:prstGeom prst="rect">
            <a:avLst/>
          </a:prstGeom>
        </p:spPr>
      </p:pic>
      <p:pic>
        <p:nvPicPr>
          <p:cNvPr id="3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56000" y="4168048"/>
            <a:ext cx="615950" cy="101600"/>
          </a:xfrm>
          <a:prstGeom prst="rect">
            <a:avLst/>
          </a:prstGeom>
        </p:spPr>
      </p:pic>
      <p:pic>
        <p:nvPicPr>
          <p:cNvPr id="3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56000" y="5082448"/>
            <a:ext cx="615950" cy="101600"/>
          </a:xfrm>
          <a:prstGeom prst="rect">
            <a:avLst/>
          </a:prstGeom>
        </p:spPr>
      </p:pic>
      <p:pic>
        <p:nvPicPr>
          <p:cNvPr id="37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21350" y="2339248"/>
            <a:ext cx="615950" cy="101600"/>
          </a:xfrm>
          <a:prstGeom prst="rect">
            <a:avLst/>
          </a:prstGeom>
        </p:spPr>
      </p:pic>
      <p:pic>
        <p:nvPicPr>
          <p:cNvPr id="3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21350" y="3253648"/>
            <a:ext cx="615950" cy="101600"/>
          </a:xfrm>
          <a:prstGeom prst="rect">
            <a:avLst/>
          </a:prstGeom>
        </p:spPr>
      </p:pic>
      <p:pic>
        <p:nvPicPr>
          <p:cNvPr id="39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721350" y="4168048"/>
            <a:ext cx="615950" cy="101600"/>
          </a:xfrm>
          <a:prstGeom prst="rect">
            <a:avLst/>
          </a:prstGeom>
        </p:spPr>
      </p:pic>
      <p:pic>
        <p:nvPicPr>
          <p:cNvPr id="40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21350" y="5082448"/>
            <a:ext cx="615950" cy="101600"/>
          </a:xfrm>
          <a:prstGeom prst="rect">
            <a:avLst/>
          </a:prstGeom>
        </p:spPr>
      </p:pic>
      <p:pic>
        <p:nvPicPr>
          <p:cNvPr id="41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521700" y="2802798"/>
            <a:ext cx="622300" cy="101600"/>
          </a:xfrm>
          <a:prstGeom prst="rect">
            <a:avLst/>
          </a:prstGeom>
        </p:spPr>
      </p:pic>
      <p:pic>
        <p:nvPicPr>
          <p:cNvPr id="42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521700" y="4618898"/>
            <a:ext cx="622300" cy="101600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819150" y="5601825"/>
            <a:ext cx="165100" cy="165100"/>
          </a:xfrm>
          <a:prstGeom prst="roundRect">
            <a:avLst>
              <a:gd name="adj" fmla="val 1923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1066800" y="5577748"/>
            <a:ext cx="13521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отрезка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2425303" y="5601825"/>
            <a:ext cx="165100" cy="165100"/>
          </a:xfrm>
          <a:prstGeom prst="roundRect">
            <a:avLst>
              <a:gd name="adj" fmla="val 1923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2672953" y="5577748"/>
            <a:ext cx="21015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готовые открытые модели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4780823" y="5601825"/>
            <a:ext cx="165100" cy="165100"/>
          </a:xfrm>
          <a:prstGeom prst="roundRect">
            <a:avLst>
              <a:gd name="adj" fmla="val 19231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5028473" y="5577748"/>
            <a:ext cx="31783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обучено нами на First Impressions V2</a:t>
            </a:r>
            <a:endParaRPr lang="en-US" sz="1200" dirty="0"/>
          </a:p>
        </p:txBody>
      </p:sp>
      <p:sp>
        <p:nvSpPr>
          <p:cNvPr id="49" name="Text 37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50" name="Text 3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8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ОБУЧАЛАСЬ МОДЕЛЬ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0036"/>
            <a:ext cx="10883392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66"/>
              </a:lnSpc>
              <a:buNone/>
            </a:pPr>
            <a:r>
              <a:rPr lang="en-US" sz="2878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Обучение AMLAI 1.0 на First Impressions V2</a:t>
            </a:r>
            <a:endParaRPr lang="en-US" sz="2878" dirty="0"/>
          </a:p>
        </p:txBody>
      </p:sp>
      <p:sp>
        <p:nvSpPr>
          <p:cNvPr id="4" name="Shape 2"/>
          <p:cNvSpPr/>
          <p:nvPr/>
        </p:nvSpPr>
        <p:spPr>
          <a:xfrm>
            <a:off x="819150" y="1649347"/>
            <a:ext cx="10553700" cy="818687"/>
          </a:xfrm>
          <a:prstGeom prst="roundRect">
            <a:avLst>
              <a:gd name="adj" fmla="val 11634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1778464"/>
            <a:ext cx="604287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Данные: 10 000 роликов по 15 секунд, разбиты составителями набора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3638" y="1769997"/>
            <a:ext cx="440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разметка — впечатление наблюдателей, а не тест личности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7900" y="2017184"/>
            <a:ext cx="3399367" cy="330200"/>
          </a:xfrm>
          <a:custGeom>
            <a:avLst/>
            <a:gdLst/>
            <a:ahLst/>
            <a:cxnLst/>
            <a:rect l="l" t="t" r="r" b="b"/>
            <a:pathLst>
              <a:path w="3399367" h="330200">
                <a:moveTo>
                  <a:pt x="0" y="63500"/>
                </a:moveTo>
                <a:arcTo hR="63500" wR="63500" stAng="10800000" swAng="5400000"/>
                <a:lnTo>
                  <a:pt x="3399367" y="0"/>
                </a:lnTo>
                <a:lnTo>
                  <a:pt x="3399367" y="330200"/>
                </a:lnTo>
                <a:lnTo>
                  <a:pt x="63500" y="330200"/>
                </a:lnTo>
                <a:arcTo hR="63500" wR="63500" stAng="5400000" swAng="5400000"/>
                <a:close/>
              </a:path>
            </a:pathLst>
          </a:custGeom>
          <a:solidFill>
            <a:srgbClr val="C2410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Обучение · 6000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96317" y="2017184"/>
            <a:ext cx="3399367" cy="330200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· 2000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14734" y="2017184"/>
            <a:ext cx="3399367" cy="330200"/>
          </a:xfrm>
          <a:custGeom>
            <a:avLst/>
            <a:gdLst/>
            <a:ahLst/>
            <a:cxnLst/>
            <a:rect l="l" t="t" r="r" b="b"/>
            <a:pathLst>
              <a:path w="3399367" h="330200">
                <a:moveTo>
                  <a:pt x="3335867" y="0"/>
                </a:moveTo>
                <a:arcTo hR="63500" wR="63500" stAng="16200000" swAng="5400000"/>
                <a:lnTo>
                  <a:pt x="3399367" y="266700"/>
                </a:lnTo>
                <a:arcTo hR="63500" wR="63500" stAng="0" swAng="5400000"/>
                <a:lnTo>
                  <a:pt x="0" y="330200"/>
                </a:lnTo>
                <a:lnTo>
                  <a:pt x="0" y="0"/>
                </a:lnTo>
                <a:close/>
              </a:path>
            </a:pathLst>
          </a:cu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Тест · 1997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150" y="2595034"/>
            <a:ext cx="3390900" cy="3240617"/>
          </a:xfrm>
          <a:prstGeom prst="roundRect">
            <a:avLst>
              <a:gd name="adj" fmla="val 2939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5200" y="2728384"/>
            <a:ext cx="3191764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Рецепт обучения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5200" y="2983641"/>
            <a:ext cx="1143794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кодировщики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63148" y="2983641"/>
            <a:ext cx="1100852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заморожены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5200" y="3245247"/>
            <a:ext cx="676196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обучали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32246" y="3245247"/>
            <a:ext cx="1331754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только слияние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5200" y="3506854"/>
            <a:ext cx="1663568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агрегация по времени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28768" y="3506854"/>
            <a:ext cx="1435232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среднее ‖ разброс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5200" y="3768461"/>
            <a:ext cx="2102088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скрытый размер · головы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99485" y="3768461"/>
            <a:ext cx="564515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512 · 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5200" y="4030067"/>
            <a:ext cx="624126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dropout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96097" y="4030067"/>
            <a:ext cx="367903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0.15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5200" y="4291674"/>
            <a:ext cx="1326594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функция потерь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97843" y="4291674"/>
            <a:ext cx="366157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5200" y="4553282"/>
            <a:ext cx="1516380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оптимизатор · шаг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63240" y="4553282"/>
            <a:ext cx="1000760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Adam · 1e-4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5200" y="4814888"/>
            <a:ext cx="985203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батч · эпохи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142694" y="4814888"/>
            <a:ext cx="921306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 · до 100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5200" y="5076495"/>
            <a:ext cx="1478518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ранняя остановка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24952" y="5076495"/>
            <a:ext cx="639048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эпох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5200" y="5338102"/>
            <a:ext cx="788670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ансамбль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599293" y="5338102"/>
            <a:ext cx="1464707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запусков (seed)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00550" y="2595034"/>
            <a:ext cx="3390900" cy="3240617"/>
          </a:xfrm>
          <a:prstGeom prst="roundRect">
            <a:avLst>
              <a:gd name="adj" fmla="val 2939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6600" y="2728384"/>
            <a:ext cx="3191764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Как шло обучение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46600" y="3002691"/>
            <a:ext cx="103452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88152" y="3002691"/>
            <a:ext cx="3045965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Признаки — один раз: готовые модели перевели ролики в числа (~48 мин)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46600" y="3473120"/>
            <a:ext cx="110596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95296" y="3473120"/>
            <a:ext cx="3038607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Слияние учится на 6000 роликах приближаться к оценкам людей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46600" y="3943548"/>
            <a:ext cx="106627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91327" y="3943548"/>
            <a:ext cx="3042695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Лучшая эпоха — по проверочным 2000; 15 эпох без улучшения → стоп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46600" y="4413979"/>
            <a:ext cx="106495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91195" y="4413979"/>
            <a:ext cx="3042831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запусков с разными случайными весами, их оценки усредняются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46600" y="4884407"/>
            <a:ext cx="114432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99133" y="4884407"/>
            <a:ext cx="3034656" cy="41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Тест — один раз, на 1997 роликах, которых модель не видела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981950" y="2595034"/>
            <a:ext cx="3390900" cy="3240617"/>
          </a:xfrm>
          <a:prstGeom prst="roundRect">
            <a:avLst>
              <a:gd name="adj" fmla="val 2939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28000" y="2728384"/>
            <a:ext cx="3191764" cy="210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227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поднимало качество (CCC)</a:t>
            </a:r>
            <a:endParaRPr lang="en-US" sz="1227" dirty="0"/>
          </a:p>
        </p:txBody>
      </p:sp>
      <p:sp>
        <p:nvSpPr>
          <p:cNvPr id="46" name="Text 44"/>
          <p:cNvSpPr/>
          <p:nvPr/>
        </p:nvSpPr>
        <p:spPr>
          <a:xfrm>
            <a:off x="8128000" y="2977423"/>
            <a:ext cx="3191764" cy="381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1"/>
              </a:lnSpc>
              <a:buNone/>
            </a:pPr>
            <a:r>
              <a:rPr lang="en-US" sz="1085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Основа — лицо (CLIP). Что добавлял каждый шаг:</a:t>
            </a:r>
            <a:endParaRPr lang="en-US" sz="1085" dirty="0"/>
          </a:p>
        </p:txBody>
      </p:sp>
      <p:sp>
        <p:nvSpPr>
          <p:cNvPr id="47" name="Text 45"/>
          <p:cNvSpPr/>
          <p:nvPr/>
        </p:nvSpPr>
        <p:spPr>
          <a:xfrm>
            <a:off x="8128000" y="3396655"/>
            <a:ext cx="3191764" cy="207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105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голос, текст, поведение вместе</a:t>
            </a:r>
            <a:endParaRPr lang="en-US" sz="1052" dirty="0"/>
          </a:p>
        </p:txBody>
      </p:sp>
      <p:sp>
        <p:nvSpPr>
          <p:cNvPr id="48" name="Shape 46"/>
          <p:cNvSpPr/>
          <p:nvPr/>
        </p:nvSpPr>
        <p:spPr>
          <a:xfrm>
            <a:off x="8128000" y="3630017"/>
            <a:ext cx="1397000" cy="139700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/>
        </p:spPr>
      </p:sp>
      <p:sp>
        <p:nvSpPr>
          <p:cNvPr id="49" name="Text 47"/>
          <p:cNvSpPr/>
          <p:nvPr/>
        </p:nvSpPr>
        <p:spPr>
          <a:xfrm>
            <a:off x="9588500" y="3597672"/>
            <a:ext cx="578247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+0.014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128000" y="3858751"/>
            <a:ext cx="3191764" cy="207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105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запусков и усреднение</a:t>
            </a:r>
            <a:endParaRPr lang="en-US" sz="1052" dirty="0"/>
          </a:p>
        </p:txBody>
      </p:sp>
      <p:sp>
        <p:nvSpPr>
          <p:cNvPr id="51" name="Shape 49"/>
          <p:cNvSpPr/>
          <p:nvPr/>
        </p:nvSpPr>
        <p:spPr>
          <a:xfrm>
            <a:off x="8128000" y="4092046"/>
            <a:ext cx="996950" cy="139700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/>
        </p:spPr>
      </p:sp>
      <p:sp>
        <p:nvSpPr>
          <p:cNvPr id="52" name="Text 50"/>
          <p:cNvSpPr/>
          <p:nvPr/>
        </p:nvSpPr>
        <p:spPr>
          <a:xfrm>
            <a:off x="9188450" y="4059701"/>
            <a:ext cx="578247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+0.010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128000" y="4320778"/>
            <a:ext cx="3191764" cy="207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105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ансамбль с OCEAN-AI — самый большой шаг</a:t>
            </a:r>
            <a:endParaRPr lang="en-US" sz="1052" dirty="0"/>
          </a:p>
        </p:txBody>
      </p:sp>
      <p:sp>
        <p:nvSpPr>
          <p:cNvPr id="54" name="Shape 52"/>
          <p:cNvSpPr/>
          <p:nvPr/>
        </p:nvSpPr>
        <p:spPr>
          <a:xfrm>
            <a:off x="8128000" y="4554076"/>
            <a:ext cx="1797050" cy="139700"/>
          </a:xfrm>
          <a:prstGeom prst="roundRect">
            <a:avLst>
              <a:gd name="adj" fmla="val 22727"/>
            </a:avLst>
          </a:prstGeom>
          <a:solidFill>
            <a:srgbClr val="C2410C"/>
          </a:solidFill>
          <a:ln/>
        </p:spPr>
      </p:sp>
      <p:sp>
        <p:nvSpPr>
          <p:cNvPr id="55" name="Text 53"/>
          <p:cNvSpPr/>
          <p:nvPr/>
        </p:nvSpPr>
        <p:spPr>
          <a:xfrm>
            <a:off x="9988550" y="4521730"/>
            <a:ext cx="578247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+0.018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128000" y="4782807"/>
            <a:ext cx="3098800" cy="919493"/>
          </a:xfrm>
          <a:prstGeom prst="roundRect">
            <a:avLst>
              <a:gd name="adj" fmla="val 8287"/>
            </a:avLst>
          </a:prstGeom>
          <a:solidFill>
            <a:srgbClr val="16202E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0" y="4871707"/>
            <a:ext cx="2982468" cy="202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93" b="1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 на тесте:</a:t>
            </a:r>
            <a:r>
              <a:rPr lang="en-US" sz="1093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mACC 0.920 · CCC 0.715</a:t>
            </a:r>
            <a:endParaRPr lang="en-US" sz="1093" dirty="0"/>
          </a:p>
        </p:txBody>
      </p:sp>
      <p:sp>
        <p:nvSpPr>
          <p:cNvPr id="58" name="Text 56"/>
          <p:cNvSpPr/>
          <p:nvPr/>
        </p:nvSpPr>
        <p:spPr>
          <a:xfrm>
            <a:off x="8229600" y="5067632"/>
            <a:ext cx="2982468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055" dirty="0">
                <a:solidFill>
                  <a:srgbClr val="F59E5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расшифровка — на слайде 4</a:t>
            </a:r>
            <a:endParaRPr lang="en-US" sz="1055" dirty="0"/>
          </a:p>
        </p:txBody>
      </p:sp>
      <p:sp>
        <p:nvSpPr>
          <p:cNvPr id="59" name="Text 57"/>
          <p:cNvSpPr/>
          <p:nvPr/>
        </p:nvSpPr>
        <p:spPr>
          <a:xfrm>
            <a:off x="8229600" y="5255949"/>
            <a:ext cx="2982468" cy="194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055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статье MM-PSYCHE — 0.918 · 0.740</a:t>
            </a:r>
            <a:endParaRPr lang="en-US" sz="1055" dirty="0"/>
          </a:p>
        </p:txBody>
      </p:sp>
      <p:sp>
        <p:nvSpPr>
          <p:cNvPr id="60" name="Text 58"/>
          <p:cNvSpPr/>
          <p:nvPr/>
        </p:nvSpPr>
        <p:spPr>
          <a:xfrm>
            <a:off x="8229600" y="5444199"/>
            <a:ext cx="2982468" cy="194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055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ансамбль с OCEAN-AI — 0.927 · 0.733</a:t>
            </a:r>
            <a:endParaRPr lang="en-US" sz="1055" dirty="0"/>
          </a:p>
        </p:txBody>
      </p:sp>
      <p:sp>
        <p:nvSpPr>
          <p:cNvPr id="61" name="Text 5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IMPRESSIONS V2 · ЧТО ИЗМЕРЯЕТ МОДЕЛЬ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130300"/>
            <a:ext cx="10883392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Система оценивает первое впечатление, а не точный профиль личности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19150" y="2000250"/>
            <a:ext cx="3251200" cy="3841750"/>
          </a:xfrm>
          <a:prstGeom prst="roundRect">
            <a:avLst>
              <a:gd name="adj" fmla="val 332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" y="2159000"/>
            <a:ext cx="29955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предсказывает модель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0600" y="2461220"/>
            <a:ext cx="2995549" cy="63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Каким человек покажется незнакомым людям по короткому ролику: по лицу, голосу, речи и манере.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90600" y="3163491"/>
            <a:ext cx="2995549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результат психологического теста и не самооценка человека.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0600" y="3661305"/>
            <a:ext cx="2995549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Обучена на англоязычных роликах; на русской речи точность пока не измерена.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90600" y="4159118"/>
            <a:ext cx="2995549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Результат — ориентир для разговора, а не диагноз.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54500" y="2000250"/>
            <a:ext cx="3251200" cy="3841750"/>
          </a:xfrm>
          <a:prstGeom prst="roundRect">
            <a:avLst>
              <a:gd name="adj" fmla="val 3320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950" y="2159000"/>
            <a:ext cx="29955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Откуда разметка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25950" y="2461220"/>
            <a:ext cx="2995549" cy="843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Набор First Impressions V2 (конкурс ChaLearn, 2016–2017): 10 000 роликов англоязычных блогеров с YouTube по 15 секунд.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25950" y="3367948"/>
            <a:ext cx="2995549" cy="843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Оценки ставили наблюдатели Amazon Mechanical Turk: смотрели два ролика и отмечали, кто из двоих кажется, например, общительнее.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25950" y="4274676"/>
            <a:ext cx="2995549" cy="843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Из таких сравнений получены оценки 0…1 по пяти чертам и «пригласил бы на собеседование». Тестов личности и самооценок в наборе нет.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89850" y="2000250"/>
            <a:ext cx="3683000" cy="3841750"/>
          </a:xfrm>
          <a:prstGeom prst="roundRect">
            <a:avLst>
              <a:gd name="adj" fmla="val 293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  <p:txBody>
          <a:bodyPr wrap="square" lIns="139833" tIns="127133" rIns="39630" bIns="127133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значат 0.920 и 0.715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1300" y="2406650"/>
            <a:ext cx="101944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0.920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67800" y="2597150"/>
            <a:ext cx="2204149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mACC</a:t>
            </a: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1 − средняя ошибка: модель промахивается в среднем на 0,08 по шкале 0…1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61300" y="4813300"/>
            <a:ext cx="3440303" cy="40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Обе — среднее по пяти чертам на 1997 тестовых роликах, которых модель не видела.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1300" y="5200650"/>
            <a:ext cx="3340100" cy="488950"/>
          </a:xfrm>
          <a:prstGeom prst="roundRect">
            <a:avLst>
              <a:gd name="adj" fmla="val 15584"/>
            </a:avLst>
          </a:prstGeom>
          <a:solidFill>
            <a:srgbClr val="16202E"/>
          </a:solidFill>
          <a:ln/>
        </p:spPr>
        <p:txBody>
          <a:bodyPr wrap="square" lIns="91982" tIns="66582" rIns="0" bIns="41182" rtlCol="0" anchor="t">
            <a:normAutofit/>
          </a:bodyPr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914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Если всем ставить среднее, mACC уже ≈ 0,88, а CCC = 0. Поэтому главная метрика — CCC.</a:t>
            </a:r>
            <a:endParaRPr lang="en-US" sz="914" dirty="0"/>
          </a:p>
        </p:txBody>
      </p:sp>
      <p:sp>
        <p:nvSpPr>
          <p:cNvPr id="22" name="Text 20"/>
          <p:cNvSpPr/>
          <p:nvPr/>
        </p:nvSpPr>
        <p:spPr>
          <a:xfrm>
            <a:off x="7861300" y="3613150"/>
            <a:ext cx="101937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D4E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0.715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069454" y="3803650"/>
            <a:ext cx="2202445" cy="81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CCC</a:t>
            </a: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согласие с наблюдателями по порядку и уровню: 1 — полное, 0 — никакого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Так выглядит страница результата</a:t>
            </a:r>
            <a:endParaRPr lang="en-US" sz="3200" dirty="0"/>
          </a:p>
        </p:txBody>
      </p:sp>
      <p:pic>
        <p:nvPicPr>
          <p:cNvPr id="4" name="Image 0" descr="Верх страницы BS Profiler 3.1: загрузка видео, выбор модели AMLAI 1.0 или OCEAN-AI, характеристика личности с типом MBTI и цветные карточки ключевых фактов">    </p:cNvPr>
          <p:cNvPicPr>
            <a:picLocks noChangeAspect="1"/>
          </p:cNvPicPr>
          <p:nvPr/>
        </p:nvPicPr>
        <p:blipFill>
          <a:blip r:embed="rId1"/>
          <a:srcRect l="-111" r="-111" t="0" b="0"/>
          <a:stretch/>
        </p:blipFill>
        <p:spPr>
          <a:xfrm>
            <a:off x="825500" y="1810941"/>
            <a:ext cx="7086600" cy="4006850"/>
          </a:xfrm>
          <a:prstGeom prst="roundRect">
            <a:avLst>
              <a:gd name="adj" fmla="val 1585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9150" y="1804591"/>
            <a:ext cx="7099300" cy="4019550"/>
          </a:xfrm>
          <a:prstGeom prst="roundRect">
            <a:avLst>
              <a:gd name="adj" fmla="val 1738"/>
            </a:avLst>
          </a:prstGeom>
          <a:noFill/>
          <a:ln w="12700">
            <a:solidFill>
              <a:srgbClr val="C9CF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798241"/>
            <a:ext cx="32440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Загрузка ролика и выбор модели: AMLAI 1.0 или OCEAN-AI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2377281"/>
            <a:ext cx="32440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Характеристика личности и тип MBTI простыми словами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2956322"/>
            <a:ext cx="32440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Ключевые факты: цвет значения — ниже, около или выше нейтрального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3535363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PDF-отчёт одной кнопкой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3901083"/>
            <a:ext cx="32440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Ниже — 8 вкладок с графиками и подробностями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Графики по ходу ролика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98241"/>
            <a:ext cx="622300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5" name="Image 0" descr="График «Big Five по ходу ролика»: оценки пяти черт и «собеседования» по каждому 20-секундному отрезку десятиминутного ролика; серой полосой отмечен отрезок для объяснений">    </p:cNvPr>
          <p:cNvPicPr>
            <a:picLocks noChangeAspect="1"/>
          </p:cNvPicPr>
          <p:nvPr/>
        </p:nvPicPr>
        <p:blipFill>
          <a:blip r:embed="rId1"/>
          <a:srcRect l="-450" r="-450" t="0" b="0"/>
          <a:stretch/>
        </p:blipFill>
        <p:spPr>
          <a:xfrm>
            <a:off x="825500" y="1810941"/>
            <a:ext cx="6197600" cy="1936750"/>
          </a:xfrm>
          <a:prstGeom prst="roundRect">
            <a:avLst>
              <a:gd name="adj" fmla="val 327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9150" y="1804591"/>
            <a:ext cx="6210300" cy="1949450"/>
          </a:xfrm>
          <a:prstGeom prst="roundRect">
            <a:avLst>
              <a:gd name="adj" fmla="val 3583"/>
            </a:avLst>
          </a:prstGeom>
          <a:noFill/>
          <a:ln w="12700">
            <a:solidFill>
              <a:srgbClr val="D6DA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800" y="3861991"/>
            <a:ext cx="6223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pic>
        <p:nvPicPr>
          <p:cNvPr id="8" name="Image 1" descr="Два графика: голос по ходу ролика (возбуждение, уверенность, позитивность) и речь по ходу ролика (темп в словах в минуту и доля пауз)">    </p:cNvPr>
          <p:cNvPicPr>
            <a:picLocks noChangeAspect="1"/>
          </p:cNvPicPr>
          <p:nvPr/>
        </p:nvPicPr>
        <p:blipFill>
          <a:blip r:embed="rId2"/>
          <a:srcRect l="-499" r="-499" t="0" b="0"/>
          <a:stretch/>
        </p:blipFill>
        <p:spPr>
          <a:xfrm>
            <a:off x="825500" y="3874691"/>
            <a:ext cx="6197600" cy="1879600"/>
          </a:xfrm>
          <a:prstGeom prst="roundRect">
            <a:avLst>
              <a:gd name="adj" fmla="val 3378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819150" y="3868341"/>
            <a:ext cx="6210300" cy="1892300"/>
          </a:xfrm>
          <a:prstGeom prst="roundRect">
            <a:avLst>
              <a:gd name="adj" fmla="val 3691"/>
            </a:avLst>
          </a:prstGeom>
          <a:noFill/>
          <a:ln w="12700">
            <a:solidFill>
              <a:srgbClr val="D6DA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40600" y="1798241"/>
            <a:ext cx="415975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 Five по отрезкам.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Оценка пяти черт и «собеседования» каждые 20 секунд: видно, где человек держится ровно, а где меняется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40600" y="2590602"/>
            <a:ext cx="415975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Серая полоса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отрезок, по которому строятся объяснения и ключевые кадры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40600" y="3169642"/>
            <a:ext cx="415975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Голос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возбуждение, уверенность и позитивность по ходу ролика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40600" y="3748683"/>
            <a:ext cx="41597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Речь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темп в словах в минуту и доля пауз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340600" y="4114403"/>
            <a:ext cx="415975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странице графики интерактивные: при наведении видны время и значения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ИНТЕРПРЕТАЦИЯ И РЕЗУЛЬТАТ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5879836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Big Five → тип MBTI → отчёт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98986" y="1214041"/>
            <a:ext cx="3265355" cy="345414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MBTI — экспериментальная гипотеза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1747441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09800" y="1747441"/>
            <a:ext cx="127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0,35–0,65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03600" y="1747441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50" y="2061040"/>
            <a:ext cx="2273300" cy="378420"/>
          </a:xfrm>
          <a:prstGeom prst="roundRect">
            <a:avLst>
              <a:gd name="adj" fmla="val 21814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square" lIns="109172" tIns="58372" rIns="48974" bIns="3297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Экстраверсия</a:t>
            </a:r>
            <a:endParaRPr lang="en-US" sz="1400" dirty="0"/>
          </a:p>
        </p:txBody>
      </p:sp>
      <p:pic>
        <p:nvPicPr>
          <p:cNvPr id="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2199481"/>
            <a:ext cx="355600" cy="10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2047081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0" y="88900"/>
                </a:moveTo>
                <a:arcTo hR="88900" wR="88900" stAng="10800000" swAng="5400000"/>
                <a:lnTo>
                  <a:pt x="1422400" y="0"/>
                </a:lnTo>
                <a:lnTo>
                  <a:pt x="1422400" y="406400"/>
                </a:lnTo>
                <a:lnTo>
                  <a:pt x="88900" y="406400"/>
                </a:lnTo>
                <a:arcTo hR="88900" wR="88900" stAng="5400000" swAng="5400000"/>
                <a:close/>
              </a:path>
            </a:pathLst>
          </a:custGeom>
          <a:solidFill>
            <a:srgbClr val="DDE6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80000" y="2047081"/>
            <a:ext cx="1219200" cy="406400"/>
          </a:xfrm>
          <a:prstGeom prst="rect">
            <a:avLst/>
          </a:prstGeom>
          <a:solidFill>
            <a:srgbClr val="E3E6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99200" y="2047081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333500" y="0"/>
                </a:moveTo>
                <a:arcTo hR="88900" wR="88900" stAng="16200000" swAng="5400000"/>
                <a:lnTo>
                  <a:pt x="1422400" y="317500"/>
                </a:lnTo>
                <a:arcTo hR="88900" wR="88900" stAng="0" swAng="5400000"/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BE3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23200" y="2036961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— экстраверсия, I — интроверсия · связь высокая, r = 0,74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9150" y="2563881"/>
            <a:ext cx="2273300" cy="378420"/>
          </a:xfrm>
          <a:prstGeom prst="roundRect">
            <a:avLst>
              <a:gd name="adj" fmla="val 21814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square" lIns="109172" tIns="58372" rIns="48974" bIns="3297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Открытость опыту</a:t>
            </a:r>
            <a:endParaRPr lang="en-US" sz="1400" dirty="0"/>
          </a:p>
        </p:txBody>
      </p:sp>
      <p:pic>
        <p:nvPicPr>
          <p:cNvPr id="1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2702322"/>
            <a:ext cx="355600" cy="101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2549922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0" y="88900"/>
                </a:moveTo>
                <a:arcTo hR="88900" wR="88900" stAng="10800000" swAng="5400000"/>
                <a:lnTo>
                  <a:pt x="1422400" y="0"/>
                </a:lnTo>
                <a:lnTo>
                  <a:pt x="1422400" y="406400"/>
                </a:lnTo>
                <a:lnTo>
                  <a:pt x="88900" y="406400"/>
                </a:lnTo>
                <a:arcTo hR="88900" wR="88900" stAng="5400000" swAng="5400000"/>
                <a:close/>
              </a:path>
            </a:pathLst>
          </a:custGeom>
          <a:solidFill>
            <a:srgbClr val="DDE6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080000" y="2549922"/>
            <a:ext cx="1219200" cy="406400"/>
          </a:xfrm>
          <a:prstGeom prst="rect">
            <a:avLst/>
          </a:prstGeom>
          <a:solidFill>
            <a:srgbClr val="E3E6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99200" y="2549922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333500" y="0"/>
                </a:moveTo>
                <a:arcTo hR="88900" wR="88900" stAng="16200000" swAng="5400000"/>
                <a:lnTo>
                  <a:pt x="1422400" y="317500"/>
                </a:lnTo>
                <a:arcTo hR="88900" wR="88900" stAng="0" swAng="5400000"/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BE3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823200" y="2539802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— интуиция, S — сенсорика · связь высокая, r = 0,72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19150" y="3066721"/>
            <a:ext cx="2273300" cy="378420"/>
          </a:xfrm>
          <a:prstGeom prst="roundRect">
            <a:avLst>
              <a:gd name="adj" fmla="val 21814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square" lIns="109172" tIns="58372" rIns="48974" bIns="3297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Доброжелательность</a:t>
            </a:r>
            <a:endParaRPr lang="en-US" sz="1400" dirty="0"/>
          </a:p>
        </p:txBody>
      </p:sp>
      <p:pic>
        <p:nvPicPr>
          <p:cNvPr id="2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0" y="3205163"/>
            <a:ext cx="355600" cy="101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57600" y="3052763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0" y="88900"/>
                </a:moveTo>
                <a:arcTo hR="88900" wR="88900" stAng="10800000" swAng="5400000"/>
                <a:lnTo>
                  <a:pt x="1422400" y="0"/>
                </a:lnTo>
                <a:lnTo>
                  <a:pt x="1422400" y="406400"/>
                </a:lnTo>
                <a:lnTo>
                  <a:pt x="88900" y="406400"/>
                </a:lnTo>
                <a:arcTo hR="88900" wR="88900" stAng="5400000" swAng="5400000"/>
                <a:close/>
              </a:path>
            </a:pathLst>
          </a:custGeom>
          <a:solidFill>
            <a:srgbClr val="DDE6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080000" y="3052763"/>
            <a:ext cx="1219200" cy="406400"/>
          </a:xfrm>
          <a:prstGeom prst="rect">
            <a:avLst/>
          </a:prstGeom>
          <a:solidFill>
            <a:srgbClr val="E3E6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299200" y="3052763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333500" y="0"/>
                </a:moveTo>
                <a:arcTo hR="88900" wR="88900" stAng="16200000" swAng="5400000"/>
                <a:lnTo>
                  <a:pt x="1422400" y="317500"/>
                </a:lnTo>
                <a:arcTo hR="88900" wR="88900" stAng="0" swAng="5400000"/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BE3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823200" y="3042642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 — чувство, T — мышление · связь средняя, r = 0,44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19150" y="3569562"/>
            <a:ext cx="2273300" cy="378420"/>
          </a:xfrm>
          <a:prstGeom prst="roundRect">
            <a:avLst>
              <a:gd name="adj" fmla="val 21814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square" lIns="109172" tIns="58372" rIns="48974" bIns="3297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Добросовестность</a:t>
            </a:r>
            <a:endParaRPr lang="en-US" sz="1400" dirty="0"/>
          </a:p>
        </p:txBody>
      </p:sp>
      <p:pic>
        <p:nvPicPr>
          <p:cNvPr id="2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00400" y="3708003"/>
            <a:ext cx="355600" cy="101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657600" y="3555603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0" y="88900"/>
                </a:moveTo>
                <a:arcTo hR="88900" wR="88900" stAng="10800000" swAng="5400000"/>
                <a:lnTo>
                  <a:pt x="1422400" y="0"/>
                </a:lnTo>
                <a:lnTo>
                  <a:pt x="1422400" y="406400"/>
                </a:lnTo>
                <a:lnTo>
                  <a:pt x="88900" y="406400"/>
                </a:lnTo>
                <a:arcTo hR="88900" wR="88900" stAng="5400000" swAng="5400000"/>
                <a:close/>
              </a:path>
            </a:pathLst>
          </a:custGeom>
          <a:solidFill>
            <a:srgbClr val="DDE6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080000" y="3555603"/>
            <a:ext cx="1219200" cy="406400"/>
          </a:xfrm>
          <a:prstGeom prst="rect">
            <a:avLst/>
          </a:prstGeom>
          <a:solidFill>
            <a:srgbClr val="E3E6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299200" y="3555603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333500" y="0"/>
                </a:moveTo>
                <a:arcTo hR="88900" wR="88900" stAng="16200000" swAng="5400000"/>
                <a:lnTo>
                  <a:pt x="1422400" y="317500"/>
                </a:lnTo>
                <a:arcTo hR="88900" wR="88900" stAng="0" swAng="5400000"/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BE3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823200" y="3545483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 — суждение, P — восприятие · связь средняя, r = 0,49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12800" y="4048323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Порог — 0,5; в пределах ±0,15 от порога полюс не определён, в типе ставится «X». Эмоциональная стабильность в тип не входит. </a:t>
            </a:r>
            <a:r>
              <a:rPr lang="en-US" sz="12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 MBTI не измеряется, а выводится из Big Five по формуле: модель на MBTI не обучалась и не проверялась.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812800" y="460196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получает пользователь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812800" y="4954984"/>
            <a:ext cx="837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Страница: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657085" y="4897834"/>
            <a:ext cx="684213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Обзор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2430198" y="4897834"/>
            <a:ext cx="901105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 MBTI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3420203" y="4897834"/>
            <a:ext cx="941586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Таймлайн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450689" y="4897834"/>
            <a:ext cx="1357379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Эмоции и голос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896967" y="4897834"/>
            <a:ext cx="575535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Речь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561403" y="4897834"/>
            <a:ext cx="1432520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Мимика и кадры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8082823" y="4897834"/>
            <a:ext cx="1115351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Объяснения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9287073" y="4897834"/>
            <a:ext cx="805855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812800" y="5371505"/>
            <a:ext cx="647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Файлы: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1466850" y="5314355"/>
            <a:ext cx="1921867" cy="327620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PDF-отчёт с графиками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3477617" y="5314355"/>
            <a:ext cx="1767020" cy="327620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result.json с данными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5333537" y="5314355"/>
            <a:ext cx="2810338" cy="327620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журнал: кто, когда, какой результат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Тип MBTI и объяснения на странице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98241"/>
            <a:ext cx="609600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</p:sp>
      <p:pic>
        <p:nvPicPr>
          <p:cNvPr id="5" name="Image 0" descr="Вкладка «Тип MBTI»: положение оценки на четырёх осях с пограничной зоной, нейротизм отдельной шкалой и ниже — буквы типа по каждому отрезку ролика">    </p:cNvPr>
          <p:cNvPicPr>
            <a:picLocks noChangeAspect="1"/>
          </p:cNvPicPr>
          <p:nvPr/>
        </p:nvPicPr>
        <p:blipFill>
          <a:blip r:embed="rId1"/>
          <a:srcRect l="-102" r="-102" t="0" b="0"/>
          <a:stretch/>
        </p:blipFill>
        <p:spPr>
          <a:xfrm>
            <a:off x="825500" y="1810941"/>
            <a:ext cx="6070600" cy="3632200"/>
          </a:xfrm>
          <a:prstGeom prst="roundRect">
            <a:avLst>
              <a:gd name="adj" fmla="val 1748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9150" y="1804591"/>
            <a:ext cx="6083300" cy="3644900"/>
          </a:xfrm>
          <a:prstGeom prst="roundRect">
            <a:avLst>
              <a:gd name="adj" fmla="val 1916"/>
            </a:avLst>
          </a:prstGeom>
          <a:noFill/>
          <a:ln w="12700">
            <a:solidFill>
              <a:srgbClr val="C9CF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13600" y="1798241"/>
            <a:ext cx="4165600" cy="245745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</p:spPr>
      </p:sp>
      <p:pic>
        <p:nvPicPr>
          <p:cNvPr id="8" name="Image 1" descr="Таблица «Вклад модальностей в оценку модели AMLAI 1.0»: для каждой черты доли лица, голоса, речи и описания поведения">    </p:cNvPr>
          <p:cNvPicPr>
            <a:picLocks noChangeAspect="1"/>
          </p:cNvPicPr>
          <p:nvPr/>
        </p:nvPicPr>
        <p:blipFill>
          <a:blip r:embed="rId2"/>
          <a:srcRect l="-171" r="-171" t="0" b="0"/>
          <a:stretch/>
        </p:blipFill>
        <p:spPr>
          <a:xfrm>
            <a:off x="7226300" y="1810941"/>
            <a:ext cx="4140200" cy="2432050"/>
          </a:xfrm>
          <a:prstGeom prst="roundRect">
            <a:avLst>
              <a:gd name="adj" fmla="val 2611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7219950" y="1804591"/>
            <a:ext cx="4152900" cy="2444750"/>
          </a:xfrm>
          <a:prstGeom prst="roundRect">
            <a:avLst>
              <a:gd name="adj" fmla="val 2857"/>
            </a:avLst>
          </a:prstGeom>
          <a:noFill/>
          <a:ln w="12700">
            <a:solidFill>
              <a:srgbClr val="C9CF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213600" y="4382691"/>
            <a:ext cx="429056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 MBTI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200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(экспериментальная гипотеза)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положение на каждой оси, пограничные оси и тип по каждому отрезку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213600" y="4936331"/>
            <a:ext cx="429056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Объяснения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(AMLAI 1.0): доля лица, голоса, речи и поведения в оценке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Стек и подходы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98241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Стек, от интерфейса к железу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094111"/>
            <a:ext cx="6337300" cy="591741"/>
          </a:xfrm>
          <a:prstGeom prst="roundRect">
            <a:avLst>
              <a:gd name="adj" fmla="val 16097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7900" y="2265499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Интерфейс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4300" y="2176661"/>
            <a:ext cx="447370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Gradio 5.8 · графики Plotly · PDF: fpdf2 и matplotlib · Caddy: HTTPS и пароль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9150" y="2774752"/>
            <a:ext cx="6337300" cy="805061"/>
          </a:xfrm>
          <a:prstGeom prst="roundRect">
            <a:avLst>
              <a:gd name="adj" fmla="val 1183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7900" y="3052831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Интерпретация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4300" y="2857302"/>
            <a:ext cx="447370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MBTI по формуле заказчика (экспериментально) · характеристика по шаблонам и словарю · ключевые факты и оговорки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9150" y="3668713"/>
            <a:ext cx="6337300" cy="805061"/>
          </a:xfrm>
          <a:prstGeom prst="roundRect">
            <a:avLst>
              <a:gd name="adj" fmla="val 1183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7900" y="3946792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4E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Модели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4300" y="3751263"/>
            <a:ext cx="447370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AMLAI 1.0 (наша) · OCEAN-AI (веса MuPTA) · CLIP · CLAP · EmoRoBERTa · wav2vec2 (голос) · ViT (мимика) · Whisper · Qwen2.5-VL через Ollama · Marian (перевод)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150" y="4562673"/>
            <a:ext cx="6337300" cy="414007"/>
          </a:xfrm>
          <a:prstGeom prst="roundRect">
            <a:avLst>
              <a:gd name="adj" fmla="val 23007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7900" y="4645223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Медиа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4300" y="4663021"/>
            <a:ext cx="44737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ffmpeg и ffprobe · OpenCV · MediaPipe (поиск лица)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150" y="5065582"/>
            <a:ext cx="6337300" cy="591741"/>
          </a:xfrm>
          <a:prstGeom prst="roundRect">
            <a:avLst>
              <a:gd name="adj" fmla="val 16097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900" y="5236964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Платформа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4300" y="5148132"/>
            <a:ext cx="447370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3.12 · PyTorch и CUDA 13 · WSL2, Ubuntu 24.04 · одна RTX 5090, 24 ГБ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69200" y="179824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Подходы</a:t>
            </a:r>
            <a:endParaRPr lang="en-US" sz="1400" dirty="0"/>
          </a:p>
        </p:txBody>
      </p:sp>
      <p:pic>
        <p:nvPicPr>
          <p:cNvPr id="21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69200" y="2138561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899400" y="2138561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Мультимодальность: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лицо, голос, речь и поведение в одной модели</a:t>
            </a:r>
            <a:endParaRPr lang="en-US" sz="1200" dirty="0"/>
          </a:p>
        </p:txBody>
      </p:sp>
      <p:pic>
        <p:nvPicPr>
          <p:cNvPr id="23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69200" y="2692202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899400" y="2692202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Линия времени: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отрезки по 20 с показывают, как меняется человек</a:t>
            </a:r>
            <a:endParaRPr lang="en-US" sz="1200" dirty="0"/>
          </a:p>
        </p:txBody>
      </p:sp>
      <p:pic>
        <p:nvPicPr>
          <p:cNvPr id="25" name="Image 2" descr="Sta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69200" y="3245842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899400" y="3245842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Ансамбль: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пять обученных копий модели, оценки усредняются</a:t>
            </a:r>
            <a:endParaRPr lang="en-US" sz="12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69200" y="3799483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899400" y="3799483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Объяснимость: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вклад модальностей, ключевые кадры, важные слова</a:t>
            </a:r>
            <a:endParaRPr lang="en-US" sz="1200" dirty="0"/>
          </a:p>
        </p:txBody>
      </p:sp>
      <p:pic>
        <p:nvPicPr>
          <p:cNvPr id="29" name="Image 4" descr="Boo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69200" y="4353123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99400" y="4353123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Предсказуемые тексты: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характеристика строится по шаблонам</a:t>
            </a:r>
            <a:endParaRPr lang="en-US" sz="1200" dirty="0"/>
          </a:p>
        </p:txBody>
      </p:sp>
      <p:pic>
        <p:nvPicPr>
          <p:cNvPr id="31" name="Image 5" descr="Lo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569200" y="4906764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99400" y="4906764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Локально: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данные не покидают компьютер, наружу — только страница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НУЖНО ДЛЯ РАЗВИТИЯ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Главное — свой размеченный датасет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4591"/>
            <a:ext cx="2019300" cy="2273300"/>
          </a:xfrm>
          <a:prstGeom prst="roundRect">
            <a:avLst>
              <a:gd name="adj" fmla="val 5975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pic>
        <p:nvPicPr>
          <p:cNvPr id="5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1950641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0000" y="1958249"/>
            <a:ext cx="8082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Съёмка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5200" y="2255441"/>
            <a:ext cx="177901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300–400+ роликов, лучше больше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5200" y="2758281"/>
            <a:ext cx="177901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 10 минут, русская речь, лицо крупно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5200" y="3261122"/>
            <a:ext cx="1779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согласие участника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7400" y="1804591"/>
            <a:ext cx="2781300" cy="1028700"/>
          </a:xfrm>
          <a:prstGeom prst="roundRect">
            <a:avLst>
              <a:gd name="adj" fmla="val 11728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3450" y="193794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8250" y="1945549"/>
            <a:ext cx="1325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Самооценка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3450" y="2230041"/>
            <a:ext cx="25638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человек сам заполняет опросник по инструкции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27400" y="3049191"/>
            <a:ext cx="2781300" cy="1028700"/>
          </a:xfrm>
          <a:prstGeom prst="roundRect">
            <a:avLst>
              <a:gd name="adj" fmla="val 11728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5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73450" y="3182541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78250" y="3190149"/>
            <a:ext cx="2324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Оценки наблюдателей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73450" y="3474641"/>
            <a:ext cx="25638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незнакомые люди сравнивают ролики попарно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597650" y="1804591"/>
            <a:ext cx="2019300" cy="2273300"/>
          </a:xfrm>
          <a:prstGeom prst="roundRect">
            <a:avLst>
              <a:gd name="adj" fmla="val 5975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pic>
        <p:nvPicPr>
          <p:cNvPr id="19" name="Image 3" descr="Databa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43700" y="1950641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8500" y="1958249"/>
            <a:ext cx="8889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Датасет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743700" y="2255441"/>
            <a:ext cx="177901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ролик, самооценка и оценки со стороны по пяти чертам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099550" y="1804591"/>
            <a:ext cx="2273300" cy="2273300"/>
          </a:xfrm>
          <a:prstGeom prst="roundRect">
            <a:avLst>
              <a:gd name="adj" fmla="val 5307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pic>
        <p:nvPicPr>
          <p:cNvPr id="23" name="Image 4" descr="Lightbulb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45600" y="1950641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50400" y="1958249"/>
            <a:ext cx="1351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это даст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245600" y="2255441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измеренная точность на русской речи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245600" y="2758281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шкала, откалиброванная под людей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245600" y="3261122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модель, дообученная на своих данных</a:t>
            </a:r>
            <a:endParaRPr lang="en-US" sz="1200" dirty="0"/>
          </a:p>
        </p:txBody>
      </p:sp>
      <p:pic>
        <p:nvPicPr>
          <p:cNvPr id="2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794000" y="2890441"/>
            <a:ext cx="342900" cy="101600"/>
          </a:xfrm>
          <a:prstGeom prst="rect">
            <a:avLst/>
          </a:prstGeom>
        </p:spPr>
      </p:pic>
      <p:pic>
        <p:nvPicPr>
          <p:cNvPr id="29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035300" y="2268141"/>
            <a:ext cx="101600" cy="1346200"/>
          </a:xfrm>
          <a:prstGeom prst="rect">
            <a:avLst/>
          </a:prstGeom>
        </p:spPr>
      </p:pic>
      <p:pic>
        <p:nvPicPr>
          <p:cNvPr id="30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035300" y="2268141"/>
            <a:ext cx="336550" cy="101600"/>
          </a:xfrm>
          <a:prstGeom prst="rect">
            <a:avLst/>
          </a:prstGeom>
        </p:spPr>
      </p:pic>
      <p:pic>
        <p:nvPicPr>
          <p:cNvPr id="31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035300" y="3512741"/>
            <a:ext cx="336550" cy="101600"/>
          </a:xfrm>
          <a:prstGeom prst="rect">
            <a:avLst/>
          </a:prstGeom>
        </p:spPr>
      </p:pic>
      <p:pic>
        <p:nvPicPr>
          <p:cNvPr id="32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064250" y="2268141"/>
            <a:ext cx="336550" cy="101600"/>
          </a:xfrm>
          <a:prstGeom prst="rect">
            <a:avLst/>
          </a:prstGeom>
        </p:spPr>
      </p:pic>
      <p:pic>
        <p:nvPicPr>
          <p:cNvPr id="33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064250" y="3512741"/>
            <a:ext cx="336550" cy="101600"/>
          </a:xfrm>
          <a:prstGeom prst="rect">
            <a:avLst/>
          </a:prstGeom>
        </p:spPr>
      </p:pic>
      <p:pic>
        <p:nvPicPr>
          <p:cNvPr id="34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299200" y="2268141"/>
            <a:ext cx="101600" cy="1346200"/>
          </a:xfrm>
          <a:prstGeom prst="rect">
            <a:avLst/>
          </a:prstGeom>
        </p:spPr>
      </p:pic>
      <p:pic>
        <p:nvPicPr>
          <p:cNvPr id="35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299200" y="2890441"/>
            <a:ext cx="342900" cy="101600"/>
          </a:xfrm>
          <a:prstGeom prst="rect">
            <a:avLst/>
          </a:prstGeom>
        </p:spPr>
      </p:pic>
      <p:pic>
        <p:nvPicPr>
          <p:cNvPr id="36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572500" y="2890441"/>
            <a:ext cx="571500" cy="101600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819150" y="4242991"/>
            <a:ext cx="3407833" cy="1434902"/>
          </a:xfrm>
          <a:prstGeom prst="roundRect">
            <a:avLst>
              <a:gd name="adj" fmla="val 8408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38" name="Text 22"/>
          <p:cNvSpPr/>
          <p:nvPr/>
        </p:nvSpPr>
        <p:spPr>
          <a:xfrm>
            <a:off x="977900" y="4401741"/>
            <a:ext cx="31830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Инструкции</a:t>
            </a:r>
            <a:endParaRPr lang="en-US" sz="1400" dirty="0"/>
          </a:p>
        </p:txBody>
      </p:sp>
      <p:sp>
        <p:nvSpPr>
          <p:cNvPr id="39" name="Text 23"/>
          <p:cNvSpPr/>
          <p:nvPr/>
        </p:nvSpPr>
        <p:spPr>
          <a:xfrm>
            <a:off x="977900" y="4665861"/>
            <a:ext cx="318304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одна короткая инструкция для всех; самооценка — стандартный опросник, например BFI-2; оценки не обсуждаются</a:t>
            </a:r>
            <a:endParaRPr lang="en-US" sz="1200" dirty="0"/>
          </a:p>
        </p:txBody>
      </p:sp>
      <p:sp>
        <p:nvSpPr>
          <p:cNvPr id="40" name="Shape 24"/>
          <p:cNvSpPr/>
          <p:nvPr/>
        </p:nvSpPr>
        <p:spPr>
          <a:xfrm>
            <a:off x="4392083" y="4242991"/>
            <a:ext cx="3407833" cy="1434902"/>
          </a:xfrm>
          <a:prstGeom prst="roundRect">
            <a:avLst>
              <a:gd name="adj" fmla="val 8408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41" name="Text 25"/>
          <p:cNvSpPr/>
          <p:nvPr/>
        </p:nvSpPr>
        <p:spPr>
          <a:xfrm>
            <a:off x="4550833" y="4401741"/>
            <a:ext cx="31830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Попарная оценка</a:t>
            </a:r>
            <a:endParaRPr lang="en-US" sz="1400" dirty="0"/>
          </a:p>
        </p:txBody>
      </p:sp>
      <p:sp>
        <p:nvSpPr>
          <p:cNvPr id="42" name="Text 26"/>
          <p:cNvSpPr/>
          <p:nvPr/>
        </p:nvSpPr>
        <p:spPr>
          <a:xfrm>
            <a:off x="4550833" y="4665861"/>
            <a:ext cx="318304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наблюдатель видит два ролика и выбирает, кто из двоих кажется, например, общительнее; из сравнений — оценка 0…1</a:t>
            </a:r>
            <a:endParaRPr lang="en-US" sz="1200" dirty="0"/>
          </a:p>
        </p:txBody>
      </p:sp>
      <p:sp>
        <p:nvSpPr>
          <p:cNvPr id="43" name="Shape 27"/>
          <p:cNvSpPr/>
          <p:nvPr/>
        </p:nvSpPr>
        <p:spPr>
          <a:xfrm>
            <a:off x="7965017" y="4242991"/>
            <a:ext cx="3407833" cy="1434902"/>
          </a:xfrm>
          <a:prstGeom prst="roundRect">
            <a:avLst>
              <a:gd name="adj" fmla="val 8408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44" name="Text 28"/>
          <p:cNvSpPr/>
          <p:nvPr/>
        </p:nvSpPr>
        <p:spPr>
          <a:xfrm>
            <a:off x="8123767" y="4401741"/>
            <a:ext cx="31830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Пример: First Impressions V2</a:t>
            </a:r>
            <a:endParaRPr lang="en-US" sz="1400" dirty="0"/>
          </a:p>
        </p:txBody>
      </p:sp>
      <p:sp>
        <p:nvSpPr>
          <p:cNvPr id="45" name="Text 29"/>
          <p:cNvSpPr/>
          <p:nvPr/>
        </p:nvSpPr>
        <p:spPr>
          <a:xfrm>
            <a:off x="8123767" y="4665861"/>
            <a:ext cx="318304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10 000 роликов по 15 с; наблюдатели Amazon Mechanical Turk сравнивали пары роликов по пяти чертам</a:t>
            </a:r>
            <a:endParaRPr lang="en-US" sz="1200" dirty="0"/>
          </a:p>
        </p:txBody>
      </p:sp>
      <p:sp>
        <p:nvSpPr>
          <p:cNvPr id="46" name="Text 3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47" name="Text 3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ЛИЦЕНЗИИ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110"/>
            <a:ext cx="10883392" cy="439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9"/>
              </a:lnSpc>
              <a:buNone/>
            </a:pPr>
            <a:r>
              <a:rPr lang="en-US" sz="2972" b="1" i="0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разрешено с моделями и данными</a:t>
            </a:r>
            <a:endParaRPr lang="en-US" sz="2972" dirty="0"/>
          </a:p>
        </p:txBody>
      </p:sp>
      <p:sp>
        <p:nvSpPr>
          <p:cNvPr id="4" name="Text 2"/>
          <p:cNvSpPr/>
          <p:nvPr/>
        </p:nvSpPr>
        <p:spPr>
          <a:xfrm>
            <a:off x="812800" y="1716484"/>
            <a:ext cx="10883392" cy="24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Код — свободный; данные и веса — некоммерческие. Для коммерческого продукта нужен свой размеченный датасет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076190"/>
            <a:ext cx="10566400" cy="2496807"/>
          </a:xfrm>
          <a:custGeom>
            <a:avLst/>
            <a:gdLst/>
            <a:ahLst/>
            <a:cxnLst/>
            <a:rect l="l" t="t" r="r" b="b"/>
            <a:pathLst>
              <a:path w="10566400" h="2496807">
                <a:moveTo>
                  <a:pt x="88900" y="2496807"/>
                </a:moveTo>
                <a:lnTo>
                  <a:pt x="88900" y="2496807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10477500" y="0"/>
                </a:lnTo>
                <a:arcTo hR="88900" wR="88900" stAng="16200000" swAng="5400000"/>
                <a:lnTo>
                  <a:pt x="10566400" y="88900"/>
                </a:lnTo>
                <a:arcTo hR="76200" wR="88900" stAng="0" swAng="-5400000"/>
                <a:lnTo>
                  <a:pt x="88900" y="12700"/>
                </a:lnTo>
                <a:arcTo hR="76200" wR="76200" stAng="16200000" swAng="-5400000"/>
                <a:lnTo>
                  <a:pt x="12700" y="2407907"/>
                </a:lnTo>
                <a:arcTo hR="88900" w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88890"/>
          <a:ext cx="10553700" cy="2484107"/>
        </p:xfrm>
        <a:graphic>
          <a:graphicData uri="http://schemas.openxmlformats.org/drawingml/2006/table">
            <a:tbl>
              <a:tblPr/>
              <a:tblGrid>
                <a:gridCol w="3166110"/>
                <a:gridCol w="2532888"/>
                <a:gridCol w="4854702"/>
              </a:tblGrid>
              <a:tr h="328811"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Компонент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Лицензия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Что разрешают авторы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538824"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OCEAN-AI, код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BSD-3-Clause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использовать, изменять, распространять — в том числе в коммерческом продукте; сохранять копирайт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538824"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First Impressions V2 — данные, на них обучена AMLAI 1.0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CC BY-NC 4.0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использовать, изменять, делиться — с указанием авторства, только некоммерчески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  <a:tr h="538824"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MuPTA — русский корпус (веса OCEAN-AI для русской речи)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 запросу, только исследования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доступ по заявке авторам; некоммерческое, научное использование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538824"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Кодировщики: CLIP, CLAP, Whisper, Qwen-VL, ViT, MediaPipe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MIT / Apache-2.0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54"/>
                        </a:lnSpc>
                        <a:buNone/>
                      </a:pPr>
                      <a:r>
                        <a:rPr lang="en-US" sz="118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свободно, в том числе коммерчески; но голос (wav2vec2) и openSMILE — некоммерчески</a:t>
                      </a:r>
                      <a:endParaRPr lang="en-US" sz="118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507" marR="52507" marT="52507" marB="52507" anchor="t">
                    <a:lnL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4712692"/>
            <a:ext cx="10566400" cy="1129308"/>
          </a:xfrm>
          <a:prstGeom prst="roundRect">
            <a:avLst>
              <a:gd name="adj" fmla="val 8997"/>
            </a:avLst>
          </a:prstGeom>
          <a:solidFill>
            <a:srgbClr val="16202E"/>
          </a:solidFill>
          <a:ln/>
        </p:spPr>
      </p:sp>
      <p:sp>
        <p:nvSpPr>
          <p:cNvPr id="8" name="Text 5"/>
          <p:cNvSpPr/>
          <p:nvPr/>
        </p:nvSpPr>
        <p:spPr>
          <a:xfrm>
            <a:off x="977900" y="4852392"/>
            <a:ext cx="10543286" cy="431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93" b="1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Итог:</a:t>
            </a:r>
            <a:r>
              <a:rPr lang="en-US" sz="1193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код можно использовать свободно, но оценки Big Five получены весами, обученными на некоммерческих данных (First Impressions V2 — CC BY-NC, MuPTA — только исследования).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977900" y="5296433"/>
            <a:ext cx="10543286" cy="431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93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Чтобы использовать систему коммерчески, нужен свой размеченный датасет — обучение на своих данных, которые можно использовать и изменять, снимает эти ограничения.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S Profiler 3.1 — система и интерфейс">
  <a:themeElements>
    <a:clrScheme name="BS Profiler 3.1 — система и интерфейс">
      <a:dk1>
        <a:srgbClr val="16202E"/>
      </a:dk1>
      <a:lt1>
        <a:srgbClr val="EEF1F4"/>
      </a:lt1>
      <a:dk2>
        <a:srgbClr val="4C5460"/>
      </a:dk2>
      <a:lt2>
        <a:srgbClr val="D8DCE0"/>
      </a:lt2>
      <a:accent1>
        <a:srgbClr val="C2410C"/>
      </a:accent1>
      <a:accent2>
        <a:srgbClr val="FBE3D4"/>
      </a:accent2>
      <a:accent3>
        <a:srgbClr val="1D4ED8"/>
      </a:accent3>
      <a:accent4>
        <a:srgbClr val="B03A0A"/>
      </a:accent4>
      <a:accent5>
        <a:srgbClr val="F59E5B"/>
      </a:accent5>
      <a:accent6>
        <a:srgbClr val="4A5568"/>
      </a:accent6>
      <a:hlink>
        <a:srgbClr val="0563C1"/>
      </a:hlink>
      <a:folHlink>
        <a:srgbClr val="954F72"/>
      </a:folHlink>
    </a:clrScheme>
    <a:fontScheme name="BS Profiler 3.1 — система и интерфейс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 Profiler 3.1 — система и интерфейс</dc:title>
  <dc:subject/>
  <dc:creator/>
  <cp:lastModifiedBy/>
  <cp:revision>1</cp:revision>
  <dcterms:created xsi:type="dcterms:W3CDTF">2026-10-02T13:49:11Z</dcterms:created>
  <dcterms:modified xsi:type="dcterms:W3CDTF">2026-10-02T13:49:11Z</dcterms:modified>
</cp:coreProperties>
</file>